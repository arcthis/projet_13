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Calibri"/>
              </a:rPr>
              <a:t>Cliquez pour déplacer la diapo</a:t>
            </a:r>
            <a:endParaRPr b="0" lang="en-US" sz="1800" spc="-1" strike="noStrike">
              <a:solidFill>
                <a:srgbClr val="000000"/>
              </a:solidFill>
              <a:latin typeface="Calibri"/>
            </a:endParaRPr>
          </a:p>
        </p:txBody>
      </p:sp>
      <p:sp>
        <p:nvSpPr>
          <p:cNvPr id="3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Cliquez pour modifier le format des notes</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&lt;en-tête&gt;</a:t>
            </a:r>
            <a:endParaRPr b="0" lang="en-US" sz="1400" spc="-1" strike="noStrike">
              <a:latin typeface="Times New Roman"/>
            </a:endParaRPr>
          </a:p>
        </p:txBody>
      </p:sp>
      <p:sp>
        <p:nvSpPr>
          <p:cNvPr id="4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&lt;date/heure&gt;</a:t>
            </a:r>
            <a:endParaRPr b="0" lang="en-US" sz="1400" spc="-1" strike="noStrike">
              <a:latin typeface="Times New Roman"/>
            </a:endParaRPr>
          </a:p>
        </p:txBody>
      </p:sp>
      <p:sp>
        <p:nvSpPr>
          <p:cNvPr id="4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&lt;pied de page&gt;</a:t>
            </a:r>
            <a:endParaRPr b="0" lang="en-US" sz="1400" spc="-1" strike="noStrike">
              <a:latin typeface="Times New Roman"/>
            </a:endParaRPr>
          </a:p>
        </p:txBody>
      </p:sp>
      <p:sp>
        <p:nvSpPr>
          <p:cNvPr id="4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B5B2CC3A-3E95-40C7-8465-5B4BB9C3948A}" type="slidenum">
              <a:rPr b="0" lang="en-US" sz="1400" spc="-1" strike="noStrike">
                <a:latin typeface="Times New Roman"/>
              </a:rPr>
              <a:t>&lt;numéro&gt;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685800" y="1143000"/>
            <a:ext cx="5486040" cy="3085920"/>
          </a:xfrm>
          <a:prstGeom prst="rect">
            <a:avLst/>
          </a:prstGeom>
          <a:ln w="0">
            <a:noFill/>
          </a:ln>
        </p:spPr>
      </p:sp>
      <p:sp>
        <p:nvSpPr>
          <p:cNvPr id="37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76"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886477A-4871-4A9B-8BFF-8EBBA7B532D3}"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685800" y="1143000"/>
            <a:ext cx="5486040" cy="3085920"/>
          </a:xfrm>
          <a:prstGeom prst="rect">
            <a:avLst/>
          </a:prstGeom>
          <a:ln w="0">
            <a:noFill/>
          </a:ln>
        </p:spPr>
      </p:sp>
      <p:sp>
        <p:nvSpPr>
          <p:cNvPr id="37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79"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127E8F2-A574-4C60-AFCC-215DD5C21EC7}"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685800" y="1143000"/>
            <a:ext cx="5486040" cy="3085920"/>
          </a:xfrm>
          <a:prstGeom prst="rect">
            <a:avLst/>
          </a:prstGeom>
          <a:ln w="0">
            <a:noFill/>
          </a:ln>
        </p:spPr>
      </p:sp>
      <p:sp>
        <p:nvSpPr>
          <p:cNvPr id="38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82"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EA74B76-9741-4BE7-94D7-5F2646399219}"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685800" y="1143000"/>
            <a:ext cx="5486040" cy="3085920"/>
          </a:xfrm>
          <a:prstGeom prst="rect">
            <a:avLst/>
          </a:prstGeom>
          <a:ln w="0">
            <a:noFill/>
          </a:ln>
        </p:spPr>
      </p:sp>
      <p:sp>
        <p:nvSpPr>
          <p:cNvPr id="38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85"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3CA40F6-D625-491C-8032-DB1236518F8C}"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685800" y="1143000"/>
            <a:ext cx="5486040" cy="3085920"/>
          </a:xfrm>
          <a:prstGeom prst="rect">
            <a:avLst/>
          </a:prstGeom>
          <a:ln w="0">
            <a:noFill/>
          </a:ln>
        </p:spPr>
      </p:sp>
      <p:sp>
        <p:nvSpPr>
          <p:cNvPr id="38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88"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FEC8BDA-5134-4F96-AFB7-918CCAB0D18F}"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685800" y="1143000"/>
            <a:ext cx="5486040" cy="3085920"/>
          </a:xfrm>
          <a:prstGeom prst="rect">
            <a:avLst/>
          </a:prstGeom>
          <a:ln w="0">
            <a:noFill/>
          </a:ln>
        </p:spPr>
      </p:sp>
      <p:sp>
        <p:nvSpPr>
          <p:cNvPr id="39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91"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9CAC515-2D6B-46F3-AA21-960C46CB2CB8}"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685800" y="1143000"/>
            <a:ext cx="5486040" cy="3085920"/>
          </a:xfrm>
          <a:prstGeom prst="rect">
            <a:avLst/>
          </a:prstGeom>
          <a:ln w="0">
            <a:noFill/>
          </a:ln>
        </p:spPr>
      </p:sp>
      <p:sp>
        <p:nvSpPr>
          <p:cNvPr id="39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94"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F914B15-3AAE-4176-8BC2-22BC1915A413}"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685800" y="1143000"/>
            <a:ext cx="5486040" cy="3085920"/>
          </a:xfrm>
          <a:prstGeom prst="rect">
            <a:avLst/>
          </a:prstGeom>
          <a:ln w="0">
            <a:noFill/>
          </a:ln>
        </p:spPr>
      </p:sp>
      <p:sp>
        <p:nvSpPr>
          <p:cNvPr id="39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97"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82E1786-ABE2-43A2-9336-B3BA09BC8D70}"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685800" y="1143000"/>
            <a:ext cx="5486040" cy="3085920"/>
          </a:xfrm>
          <a:prstGeom prst="rect">
            <a:avLst/>
          </a:prstGeom>
          <a:ln w="0">
            <a:noFill/>
          </a:ln>
        </p:spPr>
      </p:sp>
      <p:sp>
        <p:nvSpPr>
          <p:cNvPr id="39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00"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B193EB2-1685-4AD3-AA35-30939E7BF51C}"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685800" y="1143000"/>
            <a:ext cx="5486040" cy="3085920"/>
          </a:xfrm>
          <a:prstGeom prst="rect">
            <a:avLst/>
          </a:prstGeom>
          <a:ln w="0">
            <a:noFill/>
          </a:ln>
        </p:spPr>
      </p:sp>
      <p:sp>
        <p:nvSpPr>
          <p:cNvPr id="40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03"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B3F88E9-71EF-47C8-AD38-8D7BA359D363}"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6040" cy="3085920"/>
          </a:xfrm>
          <a:prstGeom prst="rect">
            <a:avLst/>
          </a:prstGeom>
          <a:ln w="0">
            <a:noFill/>
          </a:ln>
        </p:spPr>
      </p:sp>
      <p:sp>
        <p:nvSpPr>
          <p:cNvPr id="40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06"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713F715-6CF4-457D-BFAB-122922FBE3AF}"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685800" y="1143000"/>
            <a:ext cx="5486040" cy="3085920"/>
          </a:xfrm>
          <a:prstGeom prst="rect">
            <a:avLst/>
          </a:prstGeom>
          <a:ln w="0">
            <a:noFill/>
          </a:ln>
        </p:spPr>
      </p:sp>
      <p:sp>
        <p:nvSpPr>
          <p:cNvPr id="40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09"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B2718D1-2E50-4D84-B3AD-662F20D4E15C}"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685800" y="1143000"/>
            <a:ext cx="5486040" cy="3085920"/>
          </a:xfrm>
          <a:prstGeom prst="rect">
            <a:avLst/>
          </a:prstGeom>
          <a:ln w="0">
            <a:noFill/>
          </a:ln>
        </p:spPr>
      </p:sp>
      <p:sp>
        <p:nvSpPr>
          <p:cNvPr id="41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12"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70C4C4E-D570-4663-BA65-61B4C2542028}"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685800" y="1143000"/>
            <a:ext cx="5486040" cy="3085920"/>
          </a:xfrm>
          <a:prstGeom prst="rect">
            <a:avLst/>
          </a:prstGeom>
          <a:ln w="0">
            <a:noFill/>
          </a:ln>
        </p:spPr>
      </p:sp>
      <p:sp>
        <p:nvSpPr>
          <p:cNvPr id="41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15"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F2BC313-D201-494F-9B11-8783F33112E8}"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685800" y="1143000"/>
            <a:ext cx="5486040" cy="3085920"/>
          </a:xfrm>
          <a:prstGeom prst="rect">
            <a:avLst/>
          </a:prstGeom>
          <a:ln w="0">
            <a:noFill/>
          </a:ln>
        </p:spPr>
      </p:sp>
      <p:sp>
        <p:nvSpPr>
          <p:cNvPr id="41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18"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DA204D2-7CCA-4D96-BF9F-E1756D71F2FA}"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685800" y="1143000"/>
            <a:ext cx="5486040" cy="3085920"/>
          </a:xfrm>
          <a:prstGeom prst="rect">
            <a:avLst/>
          </a:prstGeom>
          <a:ln w="0">
            <a:noFill/>
          </a:ln>
        </p:spPr>
      </p:sp>
      <p:sp>
        <p:nvSpPr>
          <p:cNvPr id="42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21"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78B2F6C-B9C8-4919-B5E2-1B0EC7F9EB2E}"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685800" y="1143000"/>
            <a:ext cx="5486040" cy="3085920"/>
          </a:xfrm>
          <a:prstGeom prst="rect">
            <a:avLst/>
          </a:prstGeom>
          <a:ln w="0">
            <a:noFill/>
          </a:ln>
        </p:spPr>
      </p:sp>
      <p:sp>
        <p:nvSpPr>
          <p:cNvPr id="42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24"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8F86399-CAB7-45CF-B65A-31DCF60A971D}"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685800" y="1143000"/>
            <a:ext cx="5486040" cy="3085920"/>
          </a:xfrm>
          <a:prstGeom prst="rect">
            <a:avLst/>
          </a:prstGeom>
          <a:ln w="0">
            <a:noFill/>
          </a:ln>
        </p:spPr>
      </p:sp>
      <p:sp>
        <p:nvSpPr>
          <p:cNvPr id="42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27"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C2666CB-A569-4EF5-B80D-76838F22BE6F}"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685800" y="1143000"/>
            <a:ext cx="5486040" cy="3085920"/>
          </a:xfrm>
          <a:prstGeom prst="rect">
            <a:avLst/>
          </a:prstGeom>
          <a:ln w="0">
            <a:noFill/>
          </a:ln>
        </p:spPr>
      </p:sp>
      <p:sp>
        <p:nvSpPr>
          <p:cNvPr id="42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30"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8091A62-AB46-4BE0-AF5E-9C11F4750D95}"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6040" cy="3085920"/>
          </a:xfrm>
          <a:prstGeom prst="rect">
            <a:avLst/>
          </a:prstGeom>
          <a:ln w="0">
            <a:noFill/>
          </a:ln>
        </p:spPr>
      </p:sp>
      <p:sp>
        <p:nvSpPr>
          <p:cNvPr id="43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33"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8A6AFC8-CE2A-4496-97E1-527C5281425D}"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6040" cy="3085920"/>
          </a:xfrm>
          <a:prstGeom prst="rect">
            <a:avLst/>
          </a:prstGeom>
          <a:ln w="0">
            <a:noFill/>
          </a:ln>
        </p:spPr>
      </p:sp>
      <p:sp>
        <p:nvSpPr>
          <p:cNvPr id="43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36"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E6BBABC-DA6C-4083-A42C-0D29368A0CD8}"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6040" cy="3085920"/>
          </a:xfrm>
          <a:prstGeom prst="rect">
            <a:avLst/>
          </a:prstGeom>
          <a:ln w="0">
            <a:noFill/>
          </a:ln>
        </p:spPr>
      </p:sp>
      <p:sp>
        <p:nvSpPr>
          <p:cNvPr id="43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39"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992742C-BB9C-46DC-AE28-16B963CD3760}"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6040" cy="3085920"/>
          </a:xfrm>
          <a:prstGeom prst="rect">
            <a:avLst/>
          </a:prstGeom>
          <a:ln w="0">
            <a:noFill/>
          </a:ln>
        </p:spPr>
      </p:sp>
      <p:sp>
        <p:nvSpPr>
          <p:cNvPr id="44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42"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A7F7BE7-B9BF-45EE-9C8D-BD31AC57BC60}"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6040" cy="3085920"/>
          </a:xfrm>
          <a:prstGeom prst="rect">
            <a:avLst/>
          </a:prstGeom>
          <a:ln w="0">
            <a:noFill/>
          </a:ln>
        </p:spPr>
      </p:sp>
      <p:sp>
        <p:nvSpPr>
          <p:cNvPr id="44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45"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164F3AB-AFB3-4AF2-920A-393E8171F8D2}"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6040" cy="3085920"/>
          </a:xfrm>
          <a:prstGeom prst="rect">
            <a:avLst/>
          </a:prstGeom>
          <a:ln w="0">
            <a:noFill/>
          </a:ln>
        </p:spPr>
      </p:sp>
      <p:sp>
        <p:nvSpPr>
          <p:cNvPr id="44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48" name="PlaceHolder 3"/>
          <p:cNvSpPr>
            <a:spLocks noGrp="1"/>
          </p:cNvSpPr>
          <p:nvPr>
            <p:ph type="sldNum" idx="2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047ADFE-260C-47F7-931F-F00F1B2ED150}"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6040" cy="3085920"/>
          </a:xfrm>
          <a:prstGeom prst="rect">
            <a:avLst/>
          </a:prstGeom>
          <a:ln w="0">
            <a:noFill/>
          </a:ln>
        </p:spPr>
      </p:sp>
      <p:sp>
        <p:nvSpPr>
          <p:cNvPr id="45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51" name="PlaceHolder 3"/>
          <p:cNvSpPr>
            <a:spLocks noGrp="1"/>
          </p:cNvSpPr>
          <p:nvPr>
            <p:ph type="sldNum" idx="2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1DE3CCD-9E9E-49F4-9B54-2163982984B4}" type="slidenum">
              <a:rPr b="0" lang="en-US" sz="1200" spc="-1" strike="noStrike">
                <a:solidFill>
                  <a:srgbClr val="000000"/>
                </a:solidFill>
                <a:latin typeface="+mn-lt"/>
                <a:ea typeface="+mn-ea"/>
              </a:rPr>
              <a:t>&lt;numéro&gt;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800" spc="-1" strike="noStrike">
                <a:solidFill>
                  <a:srgbClr val="000000"/>
                </a:solidFill>
                <a:latin typeface="Calibri"/>
              </a:rPr>
              <a:t>Cliquez pour éditer le format du texte-titre</a:t>
            </a:r>
            <a:endParaRPr b="0" lang="en-US"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Cliquez pour éditer le format du plan de texte</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niveau de plan</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Troisième niveau de plan</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Quatrième niveau de plan</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Cinquième niveau de plan</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Sixième niveau de plan</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Septième niveau de plan</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44"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45" name="Shape 1"/>
          <p:cNvSpPr/>
          <p:nvPr/>
        </p:nvSpPr>
        <p:spPr>
          <a:xfrm>
            <a:off x="6858000" y="0"/>
            <a:ext cx="2285640" cy="5143320"/>
          </a:xfrm>
          <a:prstGeom prst="rect">
            <a:avLst/>
          </a:prstGeom>
          <a:solidFill>
            <a:srgbClr val="0d2240"/>
          </a:solidFill>
          <a:ln w="0">
            <a:noFill/>
          </a:ln>
        </p:spPr>
        <p:style>
          <a:lnRef idx="0"/>
          <a:fillRef idx="0"/>
          <a:effectRef idx="0"/>
          <a:fontRef idx="minor"/>
        </p:style>
      </p:sp>
      <p:sp>
        <p:nvSpPr>
          <p:cNvPr id="46" name="Shape 2"/>
          <p:cNvSpPr/>
          <p:nvPr/>
        </p:nvSpPr>
        <p:spPr>
          <a:xfrm>
            <a:off x="8046720" y="731520"/>
            <a:ext cx="1096920" cy="72720"/>
          </a:xfrm>
          <a:prstGeom prst="rect">
            <a:avLst/>
          </a:prstGeom>
          <a:solidFill>
            <a:srgbClr val="00c9a7"/>
          </a:solidFill>
          <a:ln w="0">
            <a:noFill/>
          </a:ln>
        </p:spPr>
        <p:style>
          <a:lnRef idx="0"/>
          <a:fillRef idx="0"/>
          <a:effectRef idx="0"/>
          <a:fontRef idx="minor"/>
        </p:style>
      </p:sp>
      <p:sp>
        <p:nvSpPr>
          <p:cNvPr id="47" name="Shape 3"/>
          <p:cNvSpPr/>
          <p:nvPr/>
        </p:nvSpPr>
        <p:spPr>
          <a:xfrm>
            <a:off x="8046720" y="1097280"/>
            <a:ext cx="731160" cy="72720"/>
          </a:xfrm>
          <a:prstGeom prst="rect">
            <a:avLst/>
          </a:prstGeom>
          <a:solidFill>
            <a:srgbClr val="00c9a7"/>
          </a:solidFill>
          <a:ln w="0">
            <a:noFill/>
          </a:ln>
        </p:spPr>
        <p:style>
          <a:lnRef idx="0"/>
          <a:fillRef idx="0"/>
          <a:effectRef idx="0"/>
          <a:fontRef idx="minor"/>
        </p:style>
      </p:sp>
      <p:sp>
        <p:nvSpPr>
          <p:cNvPr id="48" name="Shape 4"/>
          <p:cNvSpPr/>
          <p:nvPr/>
        </p:nvSpPr>
        <p:spPr>
          <a:xfrm>
            <a:off x="8046720" y="1463040"/>
            <a:ext cx="914040" cy="72720"/>
          </a:xfrm>
          <a:prstGeom prst="rect">
            <a:avLst/>
          </a:prstGeom>
          <a:solidFill>
            <a:srgbClr val="00c9a7"/>
          </a:solidFill>
          <a:ln w="0">
            <a:noFill/>
          </a:ln>
        </p:spPr>
        <p:style>
          <a:lnRef idx="0"/>
          <a:fillRef idx="0"/>
          <a:effectRef idx="0"/>
          <a:fontRef idx="minor"/>
        </p:style>
      </p:sp>
      <p:sp>
        <p:nvSpPr>
          <p:cNvPr id="49" name="Shape 5"/>
          <p:cNvSpPr/>
          <p:nvPr/>
        </p:nvSpPr>
        <p:spPr>
          <a:xfrm>
            <a:off x="7040880" y="2286000"/>
            <a:ext cx="72720" cy="72720"/>
          </a:xfrm>
          <a:prstGeom prst="ellipse">
            <a:avLst/>
          </a:prstGeom>
          <a:solidFill>
            <a:srgbClr val="ffffff">
              <a:alpha val="30000"/>
            </a:srgbClr>
          </a:solidFill>
          <a:ln w="0">
            <a:noFill/>
          </a:ln>
        </p:spPr>
        <p:style>
          <a:lnRef idx="0"/>
          <a:fillRef idx="0"/>
          <a:effectRef idx="0"/>
          <a:fontRef idx="minor"/>
        </p:style>
      </p:sp>
      <p:sp>
        <p:nvSpPr>
          <p:cNvPr id="50" name="Shape 6"/>
          <p:cNvSpPr/>
          <p:nvPr/>
        </p:nvSpPr>
        <p:spPr>
          <a:xfrm>
            <a:off x="7360920" y="2286000"/>
            <a:ext cx="72720" cy="72720"/>
          </a:xfrm>
          <a:prstGeom prst="ellipse">
            <a:avLst/>
          </a:prstGeom>
          <a:solidFill>
            <a:srgbClr val="ffffff">
              <a:alpha val="30000"/>
            </a:srgbClr>
          </a:solidFill>
          <a:ln w="0">
            <a:noFill/>
          </a:ln>
        </p:spPr>
        <p:style>
          <a:lnRef idx="0"/>
          <a:fillRef idx="0"/>
          <a:effectRef idx="0"/>
          <a:fontRef idx="minor"/>
        </p:style>
      </p:sp>
      <p:sp>
        <p:nvSpPr>
          <p:cNvPr id="51" name="Shape 7"/>
          <p:cNvSpPr/>
          <p:nvPr/>
        </p:nvSpPr>
        <p:spPr>
          <a:xfrm>
            <a:off x="7680960" y="2286000"/>
            <a:ext cx="72720" cy="72720"/>
          </a:xfrm>
          <a:prstGeom prst="ellipse">
            <a:avLst/>
          </a:prstGeom>
          <a:solidFill>
            <a:srgbClr val="ffffff">
              <a:alpha val="30000"/>
            </a:srgbClr>
          </a:solidFill>
          <a:ln w="0">
            <a:noFill/>
          </a:ln>
        </p:spPr>
        <p:style>
          <a:lnRef idx="0"/>
          <a:fillRef idx="0"/>
          <a:effectRef idx="0"/>
          <a:fontRef idx="minor"/>
        </p:style>
      </p:sp>
      <p:sp>
        <p:nvSpPr>
          <p:cNvPr id="52" name="Shape 8"/>
          <p:cNvSpPr/>
          <p:nvPr/>
        </p:nvSpPr>
        <p:spPr>
          <a:xfrm>
            <a:off x="7040880" y="2606040"/>
            <a:ext cx="72720" cy="72720"/>
          </a:xfrm>
          <a:prstGeom prst="ellipse">
            <a:avLst/>
          </a:prstGeom>
          <a:solidFill>
            <a:srgbClr val="ffffff">
              <a:alpha val="30000"/>
            </a:srgbClr>
          </a:solidFill>
          <a:ln w="0">
            <a:noFill/>
          </a:ln>
        </p:spPr>
        <p:style>
          <a:lnRef idx="0"/>
          <a:fillRef idx="0"/>
          <a:effectRef idx="0"/>
          <a:fontRef idx="minor"/>
        </p:style>
      </p:sp>
      <p:sp>
        <p:nvSpPr>
          <p:cNvPr id="53" name="Shape 9"/>
          <p:cNvSpPr/>
          <p:nvPr/>
        </p:nvSpPr>
        <p:spPr>
          <a:xfrm>
            <a:off x="7360920" y="2606040"/>
            <a:ext cx="72720" cy="72720"/>
          </a:xfrm>
          <a:prstGeom prst="ellipse">
            <a:avLst/>
          </a:prstGeom>
          <a:solidFill>
            <a:srgbClr val="ffffff">
              <a:alpha val="30000"/>
            </a:srgbClr>
          </a:solidFill>
          <a:ln w="0">
            <a:noFill/>
          </a:ln>
        </p:spPr>
        <p:style>
          <a:lnRef idx="0"/>
          <a:fillRef idx="0"/>
          <a:effectRef idx="0"/>
          <a:fontRef idx="minor"/>
        </p:style>
      </p:sp>
      <p:sp>
        <p:nvSpPr>
          <p:cNvPr id="54" name="Shape 10"/>
          <p:cNvSpPr/>
          <p:nvPr/>
        </p:nvSpPr>
        <p:spPr>
          <a:xfrm>
            <a:off x="7680960" y="2606040"/>
            <a:ext cx="72720" cy="72720"/>
          </a:xfrm>
          <a:prstGeom prst="ellipse">
            <a:avLst/>
          </a:prstGeom>
          <a:solidFill>
            <a:srgbClr val="ffffff">
              <a:alpha val="30000"/>
            </a:srgbClr>
          </a:solidFill>
          <a:ln w="0">
            <a:noFill/>
          </a:ln>
        </p:spPr>
        <p:style>
          <a:lnRef idx="0"/>
          <a:fillRef idx="0"/>
          <a:effectRef idx="0"/>
          <a:fontRef idx="minor"/>
        </p:style>
      </p:sp>
      <p:sp>
        <p:nvSpPr>
          <p:cNvPr id="55" name="Shape 11"/>
          <p:cNvSpPr/>
          <p:nvPr/>
        </p:nvSpPr>
        <p:spPr>
          <a:xfrm>
            <a:off x="7040880" y="2926080"/>
            <a:ext cx="72720" cy="72720"/>
          </a:xfrm>
          <a:prstGeom prst="ellipse">
            <a:avLst/>
          </a:prstGeom>
          <a:solidFill>
            <a:srgbClr val="ffffff">
              <a:alpha val="30000"/>
            </a:srgbClr>
          </a:solidFill>
          <a:ln w="0">
            <a:noFill/>
          </a:ln>
        </p:spPr>
        <p:style>
          <a:lnRef idx="0"/>
          <a:fillRef idx="0"/>
          <a:effectRef idx="0"/>
          <a:fontRef idx="minor"/>
        </p:style>
      </p:sp>
      <p:sp>
        <p:nvSpPr>
          <p:cNvPr id="56" name="Shape 12"/>
          <p:cNvSpPr/>
          <p:nvPr/>
        </p:nvSpPr>
        <p:spPr>
          <a:xfrm>
            <a:off x="7360920" y="2926080"/>
            <a:ext cx="72720" cy="72720"/>
          </a:xfrm>
          <a:prstGeom prst="ellipse">
            <a:avLst/>
          </a:prstGeom>
          <a:solidFill>
            <a:srgbClr val="ffffff">
              <a:alpha val="30000"/>
            </a:srgbClr>
          </a:solidFill>
          <a:ln w="0">
            <a:noFill/>
          </a:ln>
        </p:spPr>
        <p:style>
          <a:lnRef idx="0"/>
          <a:fillRef idx="0"/>
          <a:effectRef idx="0"/>
          <a:fontRef idx="minor"/>
        </p:style>
      </p:sp>
      <p:sp>
        <p:nvSpPr>
          <p:cNvPr id="57" name="Shape 13"/>
          <p:cNvSpPr/>
          <p:nvPr/>
        </p:nvSpPr>
        <p:spPr>
          <a:xfrm>
            <a:off x="7680960" y="2926080"/>
            <a:ext cx="72720" cy="72720"/>
          </a:xfrm>
          <a:prstGeom prst="ellipse">
            <a:avLst/>
          </a:prstGeom>
          <a:solidFill>
            <a:srgbClr val="ffffff">
              <a:alpha val="30000"/>
            </a:srgbClr>
          </a:solidFill>
          <a:ln w="0">
            <a:noFill/>
          </a:ln>
        </p:spPr>
        <p:style>
          <a:lnRef idx="0"/>
          <a:fillRef idx="0"/>
          <a:effectRef idx="0"/>
          <a:fontRef idx="minor"/>
        </p:style>
      </p:sp>
      <p:sp>
        <p:nvSpPr>
          <p:cNvPr id="58" name="Shape 14"/>
          <p:cNvSpPr/>
          <p:nvPr/>
        </p:nvSpPr>
        <p:spPr>
          <a:xfrm>
            <a:off x="7040880" y="3246120"/>
            <a:ext cx="72720" cy="72720"/>
          </a:xfrm>
          <a:prstGeom prst="ellipse">
            <a:avLst/>
          </a:prstGeom>
          <a:solidFill>
            <a:srgbClr val="ffffff">
              <a:alpha val="30000"/>
            </a:srgbClr>
          </a:solidFill>
          <a:ln w="0">
            <a:noFill/>
          </a:ln>
        </p:spPr>
        <p:style>
          <a:lnRef idx="0"/>
          <a:fillRef idx="0"/>
          <a:effectRef idx="0"/>
          <a:fontRef idx="minor"/>
        </p:style>
      </p:sp>
      <p:sp>
        <p:nvSpPr>
          <p:cNvPr id="59" name="Shape 15"/>
          <p:cNvSpPr/>
          <p:nvPr/>
        </p:nvSpPr>
        <p:spPr>
          <a:xfrm>
            <a:off x="7360920" y="3246120"/>
            <a:ext cx="72720" cy="72720"/>
          </a:xfrm>
          <a:prstGeom prst="ellipse">
            <a:avLst/>
          </a:prstGeom>
          <a:solidFill>
            <a:srgbClr val="ffffff">
              <a:alpha val="30000"/>
            </a:srgbClr>
          </a:solidFill>
          <a:ln w="0">
            <a:noFill/>
          </a:ln>
        </p:spPr>
        <p:style>
          <a:lnRef idx="0"/>
          <a:fillRef idx="0"/>
          <a:effectRef idx="0"/>
          <a:fontRef idx="minor"/>
        </p:style>
      </p:sp>
      <p:sp>
        <p:nvSpPr>
          <p:cNvPr id="60" name="Shape 16"/>
          <p:cNvSpPr/>
          <p:nvPr/>
        </p:nvSpPr>
        <p:spPr>
          <a:xfrm>
            <a:off x="7680960" y="3246120"/>
            <a:ext cx="72720" cy="72720"/>
          </a:xfrm>
          <a:prstGeom prst="ellipse">
            <a:avLst/>
          </a:prstGeom>
          <a:solidFill>
            <a:srgbClr val="ffffff">
              <a:alpha val="30000"/>
            </a:srgbClr>
          </a:solidFill>
          <a:ln w="0">
            <a:noFill/>
          </a:ln>
        </p:spPr>
        <p:style>
          <a:lnRef idx="0"/>
          <a:fillRef idx="0"/>
          <a:effectRef idx="0"/>
          <a:fontRef idx="minor"/>
        </p:style>
      </p:sp>
      <p:sp>
        <p:nvSpPr>
          <p:cNvPr id="61" name="Text 17"/>
          <p:cNvSpPr/>
          <p:nvPr/>
        </p:nvSpPr>
        <p:spPr>
          <a:xfrm>
            <a:off x="365760" y="1097280"/>
            <a:ext cx="594324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599" strike="noStrike">
                <a:solidFill>
                  <a:srgbClr val="00c9a7"/>
                </a:solidFill>
                <a:latin typeface="Calibri"/>
                <a:ea typeface="Calibri"/>
              </a:rPr>
              <a:t>DATA ENGINEER</a:t>
            </a:r>
            <a:endParaRPr b="0" lang="en-US" sz="1100" spc="-1" strike="noStrike">
              <a:latin typeface="Arial"/>
            </a:endParaRPr>
          </a:p>
        </p:txBody>
      </p:sp>
      <p:sp>
        <p:nvSpPr>
          <p:cNvPr id="62" name="Text 18"/>
          <p:cNvSpPr/>
          <p:nvPr/>
        </p:nvSpPr>
        <p:spPr>
          <a:xfrm>
            <a:off x="365760" y="1554480"/>
            <a:ext cx="6217560" cy="1279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600" spc="-1" strike="noStrike">
                <a:solidFill>
                  <a:srgbClr val="ffffff"/>
                </a:solidFill>
                <a:latin typeface="Calibri"/>
                <a:ea typeface="Calibri"/>
              </a:rPr>
              <a:t>Portfolio de Projets</a:t>
            </a:r>
            <a:endParaRPr b="0" lang="en-US" sz="4600" spc="-1" strike="noStrike">
              <a:latin typeface="Arial"/>
            </a:endParaRPr>
          </a:p>
        </p:txBody>
      </p:sp>
      <p:sp>
        <p:nvSpPr>
          <p:cNvPr id="63" name="Text 19"/>
          <p:cNvSpPr/>
          <p:nvPr/>
        </p:nvSpPr>
        <p:spPr>
          <a:xfrm>
            <a:off x="365760" y="2926080"/>
            <a:ext cx="5943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600" spc="-1" strike="noStrike">
                <a:solidFill>
                  <a:srgbClr val="94a3b8"/>
                </a:solidFill>
                <a:latin typeface="Calibri"/>
                <a:ea typeface="Calibri"/>
              </a:rPr>
              <a:t>Formation Data Engineer · OpenClassrooms</a:t>
            </a:r>
            <a:endParaRPr b="0" lang="en-US" sz="1600" spc="-1" strike="noStrike">
              <a:latin typeface="Arial"/>
            </a:endParaRPr>
          </a:p>
        </p:txBody>
      </p:sp>
      <p:sp>
        <p:nvSpPr>
          <p:cNvPr id="64" name="Shape 20"/>
          <p:cNvSpPr/>
          <p:nvPr/>
        </p:nvSpPr>
        <p:spPr>
          <a:xfrm>
            <a:off x="365760" y="3749040"/>
            <a:ext cx="1371240" cy="548280"/>
          </a:xfrm>
          <a:prstGeom prst="rect">
            <a:avLst/>
          </a:prstGeom>
          <a:solidFill>
            <a:srgbClr val="ffffff">
              <a:alpha val="12000"/>
            </a:srgbClr>
          </a:solidFill>
          <a:ln w="0">
            <a:noFill/>
          </a:ln>
        </p:spPr>
        <p:style>
          <a:lnRef idx="0"/>
          <a:fillRef idx="0"/>
          <a:effectRef idx="0"/>
          <a:fontRef idx="minor"/>
        </p:style>
      </p:sp>
      <p:sp>
        <p:nvSpPr>
          <p:cNvPr id="65" name="Text 21"/>
          <p:cNvSpPr/>
          <p:nvPr/>
        </p:nvSpPr>
        <p:spPr>
          <a:xfrm>
            <a:off x="365760" y="3749040"/>
            <a:ext cx="1371240" cy="548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ffffff"/>
                </a:solidFill>
                <a:latin typeface="Calibri"/>
                <a:ea typeface="Calibri"/>
              </a:rPr>
              <a:t>12 Projets</a:t>
            </a:r>
            <a:endParaRPr b="0" lang="en-US" sz="1000" spc="-1" strike="noStrike">
              <a:latin typeface="Arial"/>
            </a:endParaRPr>
          </a:p>
        </p:txBody>
      </p:sp>
      <p:sp>
        <p:nvSpPr>
          <p:cNvPr id="66" name="Shape 22"/>
          <p:cNvSpPr/>
          <p:nvPr/>
        </p:nvSpPr>
        <p:spPr>
          <a:xfrm>
            <a:off x="2011680" y="3749040"/>
            <a:ext cx="1371240" cy="548280"/>
          </a:xfrm>
          <a:prstGeom prst="rect">
            <a:avLst/>
          </a:prstGeom>
          <a:solidFill>
            <a:srgbClr val="ffffff">
              <a:alpha val="12000"/>
            </a:srgbClr>
          </a:solidFill>
          <a:ln w="0">
            <a:noFill/>
          </a:ln>
        </p:spPr>
        <p:style>
          <a:lnRef idx="0"/>
          <a:fillRef idx="0"/>
          <a:effectRef idx="0"/>
          <a:fontRef idx="minor"/>
        </p:style>
      </p:sp>
      <p:sp>
        <p:nvSpPr>
          <p:cNvPr id="67" name="Text 23"/>
          <p:cNvSpPr/>
          <p:nvPr/>
        </p:nvSpPr>
        <p:spPr>
          <a:xfrm>
            <a:off x="2011680" y="3749040"/>
            <a:ext cx="1371240" cy="548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ffffff"/>
                </a:solidFill>
                <a:latin typeface="Calibri"/>
                <a:ea typeface="Calibri"/>
              </a:rPr>
              <a:t>Python </a:t>
            </a:r>
            <a:r>
              <a:rPr b="1" lang="en-US" sz="1000" spc="-1" strike="noStrike">
                <a:solidFill>
                  <a:srgbClr val="ffffff"/>
                </a:solidFill>
                <a:latin typeface="Calibri"/>
                <a:ea typeface="Calibri"/>
              </a:rPr>
              <a:t>·</a:t>
            </a:r>
            <a:r>
              <a:rPr b="1" lang="en-US" sz="1000" spc="-1" strike="noStrike">
                <a:solidFill>
                  <a:srgbClr val="ffffff"/>
                </a:solidFill>
                <a:latin typeface="Calibri"/>
                <a:ea typeface="Calibri"/>
              </a:rPr>
              <a:t> SQL </a:t>
            </a:r>
            <a:r>
              <a:rPr b="1" lang="en-US" sz="1000" spc="-1" strike="noStrike">
                <a:solidFill>
                  <a:srgbClr val="ffffff"/>
                </a:solidFill>
                <a:latin typeface="Calibri"/>
                <a:ea typeface="Calibri"/>
              </a:rPr>
              <a:t>· NoSQL</a:t>
            </a:r>
            <a:endParaRPr b="0" lang="en-US" sz="1000" spc="-1" strike="noStrike">
              <a:latin typeface="Arial"/>
            </a:endParaRPr>
          </a:p>
        </p:txBody>
      </p:sp>
      <p:sp>
        <p:nvSpPr>
          <p:cNvPr id="68" name="Shape 24"/>
          <p:cNvSpPr/>
          <p:nvPr/>
        </p:nvSpPr>
        <p:spPr>
          <a:xfrm>
            <a:off x="3657600" y="3749040"/>
            <a:ext cx="1371240" cy="548280"/>
          </a:xfrm>
          <a:prstGeom prst="rect">
            <a:avLst/>
          </a:prstGeom>
          <a:solidFill>
            <a:srgbClr val="ffffff">
              <a:alpha val="12000"/>
            </a:srgbClr>
          </a:solidFill>
          <a:ln w="0">
            <a:noFill/>
          </a:ln>
        </p:spPr>
        <p:style>
          <a:lnRef idx="0"/>
          <a:fillRef idx="0"/>
          <a:effectRef idx="0"/>
          <a:fontRef idx="minor"/>
        </p:style>
      </p:sp>
      <p:sp>
        <p:nvSpPr>
          <p:cNvPr id="69" name="Text 25"/>
          <p:cNvSpPr/>
          <p:nvPr/>
        </p:nvSpPr>
        <p:spPr>
          <a:xfrm>
            <a:off x="3657600" y="3749040"/>
            <a:ext cx="1371240" cy="548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ffffff"/>
                </a:solidFill>
                <a:latin typeface="Calibri"/>
                <a:ea typeface="Calibri"/>
              </a:rPr>
              <a:t>Cloud AWS</a:t>
            </a:r>
            <a:endParaRPr b="0" lang="en-US" sz="1000" spc="-1" strike="noStrike">
              <a:latin typeface="Arial"/>
            </a:endParaRPr>
          </a:p>
        </p:txBody>
      </p:sp>
      <p:sp>
        <p:nvSpPr>
          <p:cNvPr id="70" name="Shape 26"/>
          <p:cNvSpPr/>
          <p:nvPr/>
        </p:nvSpPr>
        <p:spPr>
          <a:xfrm>
            <a:off x="5303520" y="3749040"/>
            <a:ext cx="1371240" cy="548280"/>
          </a:xfrm>
          <a:prstGeom prst="rect">
            <a:avLst/>
          </a:prstGeom>
          <a:solidFill>
            <a:srgbClr val="ffffff">
              <a:alpha val="12000"/>
            </a:srgbClr>
          </a:solidFill>
          <a:ln w="0">
            <a:noFill/>
          </a:ln>
        </p:spPr>
        <p:style>
          <a:lnRef idx="0"/>
          <a:fillRef idx="0"/>
          <a:effectRef idx="0"/>
          <a:fontRef idx="minor"/>
        </p:style>
      </p:sp>
      <p:sp>
        <p:nvSpPr>
          <p:cNvPr id="71" name="Text 27"/>
          <p:cNvSpPr/>
          <p:nvPr/>
        </p:nvSpPr>
        <p:spPr>
          <a:xfrm>
            <a:off x="5303520" y="3749040"/>
            <a:ext cx="1371240" cy="548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ffffff"/>
                </a:solidFill>
                <a:latin typeface="Calibri"/>
                <a:ea typeface="Calibri"/>
              </a:rPr>
              <a:t>ETL · ML · RAG</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2" name="Shape 0"/>
          <p:cNvSpPr/>
          <p:nvPr/>
        </p:nvSpPr>
        <p:spPr>
          <a:xfrm>
            <a:off x="0" y="0"/>
            <a:ext cx="9143640" cy="822600"/>
          </a:xfrm>
          <a:prstGeom prst="rect">
            <a:avLst/>
          </a:prstGeom>
          <a:solidFill>
            <a:srgbClr val="0a1628"/>
          </a:solidFill>
          <a:ln w="0">
            <a:noFill/>
          </a:ln>
        </p:spPr>
        <p:style>
          <a:lnRef idx="0"/>
          <a:fillRef idx="0"/>
          <a:effectRef idx="0"/>
          <a:fontRef idx="minor"/>
        </p:style>
      </p:sp>
      <p:sp>
        <p:nvSpPr>
          <p:cNvPr id="73" name="Text 1"/>
          <p:cNvSpPr/>
          <p:nvPr/>
        </p:nvSpPr>
        <p:spPr>
          <a:xfrm>
            <a:off x="457200" y="91440"/>
            <a:ext cx="822924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ffffff"/>
                </a:solidFill>
                <a:latin typeface="Calibri"/>
                <a:ea typeface="Calibri"/>
              </a:rPr>
              <a:t>Sommaire</a:t>
            </a:r>
            <a:endParaRPr b="0" lang="en-US" sz="2200" spc="-1" strike="noStrike">
              <a:latin typeface="Arial"/>
            </a:endParaRPr>
          </a:p>
        </p:txBody>
      </p:sp>
      <p:sp>
        <p:nvSpPr>
          <p:cNvPr id="74" name="Shape 2"/>
          <p:cNvSpPr/>
          <p:nvPr/>
        </p:nvSpPr>
        <p:spPr>
          <a:xfrm>
            <a:off x="365760" y="96012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75" name="Shape 3"/>
          <p:cNvSpPr/>
          <p:nvPr/>
        </p:nvSpPr>
        <p:spPr>
          <a:xfrm>
            <a:off x="365760" y="960120"/>
            <a:ext cx="54360" cy="658080"/>
          </a:xfrm>
          <a:prstGeom prst="rect">
            <a:avLst/>
          </a:prstGeom>
          <a:solidFill>
            <a:srgbClr val="00c9a7"/>
          </a:solidFill>
          <a:ln w="0">
            <a:noFill/>
          </a:ln>
        </p:spPr>
        <p:style>
          <a:lnRef idx="0"/>
          <a:fillRef idx="0"/>
          <a:effectRef idx="0"/>
          <a:fontRef idx="minor"/>
        </p:style>
      </p:sp>
      <p:sp>
        <p:nvSpPr>
          <p:cNvPr id="76" name="Text 4"/>
          <p:cNvSpPr/>
          <p:nvPr/>
        </p:nvSpPr>
        <p:spPr>
          <a:xfrm>
            <a:off x="475560" y="99684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01</a:t>
            </a:r>
            <a:endParaRPr b="0" lang="en-US" sz="1800" spc="-1" strike="noStrike">
              <a:latin typeface="Arial"/>
            </a:endParaRPr>
          </a:p>
        </p:txBody>
      </p:sp>
      <p:sp>
        <p:nvSpPr>
          <p:cNvPr id="77" name="Text 5"/>
          <p:cNvSpPr/>
          <p:nvPr/>
        </p:nvSpPr>
        <p:spPr>
          <a:xfrm>
            <a:off x="960120" y="99684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Analyse de données &amp; exploration</a:t>
            </a:r>
            <a:endParaRPr b="0" lang="en-US" sz="1050" spc="-1" strike="noStrike">
              <a:latin typeface="Arial"/>
            </a:endParaRPr>
          </a:p>
        </p:txBody>
      </p:sp>
      <p:sp>
        <p:nvSpPr>
          <p:cNvPr id="78" name="Text 6"/>
          <p:cNvSpPr/>
          <p:nvPr/>
        </p:nvSpPr>
        <p:spPr>
          <a:xfrm>
            <a:off x="960120" y="130752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2</a:t>
            </a:r>
            <a:endParaRPr b="0" lang="en-US" sz="900" spc="-1" strike="noStrike">
              <a:latin typeface="Arial"/>
            </a:endParaRPr>
          </a:p>
        </p:txBody>
      </p:sp>
      <p:sp>
        <p:nvSpPr>
          <p:cNvPr id="79" name="Shape 7"/>
          <p:cNvSpPr/>
          <p:nvPr/>
        </p:nvSpPr>
        <p:spPr>
          <a:xfrm>
            <a:off x="365760" y="173736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80" name="Shape 8"/>
          <p:cNvSpPr/>
          <p:nvPr/>
        </p:nvSpPr>
        <p:spPr>
          <a:xfrm>
            <a:off x="365760" y="1737360"/>
            <a:ext cx="54360" cy="658080"/>
          </a:xfrm>
          <a:prstGeom prst="rect">
            <a:avLst/>
          </a:prstGeom>
          <a:solidFill>
            <a:srgbClr val="00c9a7"/>
          </a:solidFill>
          <a:ln w="0">
            <a:noFill/>
          </a:ln>
        </p:spPr>
        <p:style>
          <a:lnRef idx="0"/>
          <a:fillRef idx="0"/>
          <a:effectRef idx="0"/>
          <a:fontRef idx="minor"/>
        </p:style>
      </p:sp>
      <p:sp>
        <p:nvSpPr>
          <p:cNvPr id="81" name="Text 9"/>
          <p:cNvSpPr/>
          <p:nvPr/>
        </p:nvSpPr>
        <p:spPr>
          <a:xfrm>
            <a:off x="475560" y="177408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02</a:t>
            </a:r>
            <a:endParaRPr b="0" lang="en-US" sz="1800" spc="-1" strike="noStrike">
              <a:latin typeface="Arial"/>
            </a:endParaRPr>
          </a:p>
        </p:txBody>
      </p:sp>
      <p:sp>
        <p:nvSpPr>
          <p:cNvPr id="82" name="Text 10"/>
          <p:cNvSpPr/>
          <p:nvPr/>
        </p:nvSpPr>
        <p:spPr>
          <a:xfrm>
            <a:off x="960120" y="177408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Bases de données relationnelles &amp; qualité</a:t>
            </a:r>
            <a:endParaRPr b="0" lang="en-US" sz="1050" spc="-1" strike="noStrike">
              <a:latin typeface="Arial"/>
            </a:endParaRPr>
          </a:p>
        </p:txBody>
      </p:sp>
      <p:sp>
        <p:nvSpPr>
          <p:cNvPr id="83" name="Text 11"/>
          <p:cNvSpPr/>
          <p:nvPr/>
        </p:nvSpPr>
        <p:spPr>
          <a:xfrm>
            <a:off x="960120" y="208476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Projets 3 &amp; 4</a:t>
            </a:r>
            <a:endParaRPr b="0" lang="en-US" sz="900" spc="-1" strike="noStrike">
              <a:latin typeface="Arial"/>
            </a:endParaRPr>
          </a:p>
        </p:txBody>
      </p:sp>
      <p:sp>
        <p:nvSpPr>
          <p:cNvPr id="84" name="Shape 12"/>
          <p:cNvSpPr/>
          <p:nvPr/>
        </p:nvSpPr>
        <p:spPr>
          <a:xfrm>
            <a:off x="365760" y="251460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85" name="Shape 13"/>
          <p:cNvSpPr/>
          <p:nvPr/>
        </p:nvSpPr>
        <p:spPr>
          <a:xfrm>
            <a:off x="365760" y="2514600"/>
            <a:ext cx="54360" cy="658080"/>
          </a:xfrm>
          <a:prstGeom prst="rect">
            <a:avLst/>
          </a:prstGeom>
          <a:solidFill>
            <a:srgbClr val="00c9a7"/>
          </a:solidFill>
          <a:ln w="0">
            <a:noFill/>
          </a:ln>
        </p:spPr>
        <p:style>
          <a:lnRef idx="0"/>
          <a:fillRef idx="0"/>
          <a:effectRef idx="0"/>
          <a:fontRef idx="minor"/>
        </p:style>
      </p:sp>
      <p:sp>
        <p:nvSpPr>
          <p:cNvPr id="86" name="Text 14"/>
          <p:cNvSpPr/>
          <p:nvPr/>
        </p:nvSpPr>
        <p:spPr>
          <a:xfrm>
            <a:off x="475560" y="255132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03</a:t>
            </a:r>
            <a:endParaRPr b="0" lang="en-US" sz="1800" spc="-1" strike="noStrike">
              <a:latin typeface="Arial"/>
            </a:endParaRPr>
          </a:p>
        </p:txBody>
      </p:sp>
      <p:sp>
        <p:nvSpPr>
          <p:cNvPr id="87" name="Text 15"/>
          <p:cNvSpPr/>
          <p:nvPr/>
        </p:nvSpPr>
        <p:spPr>
          <a:xfrm>
            <a:off x="960120" y="255132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Stockage NoSQL &amp; architecture distribuée</a:t>
            </a:r>
            <a:endParaRPr b="0" lang="en-US" sz="1050" spc="-1" strike="noStrike">
              <a:latin typeface="Arial"/>
            </a:endParaRPr>
          </a:p>
        </p:txBody>
      </p:sp>
      <p:sp>
        <p:nvSpPr>
          <p:cNvPr id="88" name="Text 16"/>
          <p:cNvSpPr/>
          <p:nvPr/>
        </p:nvSpPr>
        <p:spPr>
          <a:xfrm>
            <a:off x="960120" y="286200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Projets 5 &amp; 7</a:t>
            </a:r>
            <a:endParaRPr b="0" lang="en-US" sz="900" spc="-1" strike="noStrike">
              <a:latin typeface="Arial"/>
            </a:endParaRPr>
          </a:p>
        </p:txBody>
      </p:sp>
      <p:sp>
        <p:nvSpPr>
          <p:cNvPr id="89" name="Shape 17"/>
          <p:cNvSpPr/>
          <p:nvPr/>
        </p:nvSpPr>
        <p:spPr>
          <a:xfrm>
            <a:off x="365760" y="329184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90" name="Shape 18"/>
          <p:cNvSpPr/>
          <p:nvPr/>
        </p:nvSpPr>
        <p:spPr>
          <a:xfrm>
            <a:off x="365760" y="3291840"/>
            <a:ext cx="54360" cy="658080"/>
          </a:xfrm>
          <a:prstGeom prst="rect">
            <a:avLst/>
          </a:prstGeom>
          <a:solidFill>
            <a:srgbClr val="00c9a7"/>
          </a:solidFill>
          <a:ln w="0">
            <a:noFill/>
          </a:ln>
        </p:spPr>
        <p:style>
          <a:lnRef idx="0"/>
          <a:fillRef idx="0"/>
          <a:effectRef idx="0"/>
          <a:fontRef idx="minor"/>
        </p:style>
      </p:sp>
      <p:sp>
        <p:nvSpPr>
          <p:cNvPr id="91" name="Text 19"/>
          <p:cNvSpPr/>
          <p:nvPr/>
        </p:nvSpPr>
        <p:spPr>
          <a:xfrm>
            <a:off x="475560" y="332856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04</a:t>
            </a:r>
            <a:endParaRPr b="0" lang="en-US" sz="1800" spc="-1" strike="noStrike">
              <a:latin typeface="Arial"/>
            </a:endParaRPr>
          </a:p>
        </p:txBody>
      </p:sp>
      <p:sp>
        <p:nvSpPr>
          <p:cNvPr id="92" name="Text 20"/>
          <p:cNvSpPr/>
          <p:nvPr/>
        </p:nvSpPr>
        <p:spPr>
          <a:xfrm>
            <a:off x="960120" y="332856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Pipelines &amp; orchestration</a:t>
            </a:r>
            <a:endParaRPr b="0" lang="en-US" sz="1050" spc="-1" strike="noStrike">
              <a:latin typeface="Arial"/>
            </a:endParaRPr>
          </a:p>
        </p:txBody>
      </p:sp>
      <p:sp>
        <p:nvSpPr>
          <p:cNvPr id="93" name="Text 21"/>
          <p:cNvSpPr/>
          <p:nvPr/>
        </p:nvSpPr>
        <p:spPr>
          <a:xfrm>
            <a:off x="960120" y="363924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10</a:t>
            </a:r>
            <a:endParaRPr b="0" lang="en-US" sz="900" spc="-1" strike="noStrike">
              <a:latin typeface="Arial"/>
            </a:endParaRPr>
          </a:p>
        </p:txBody>
      </p:sp>
      <p:sp>
        <p:nvSpPr>
          <p:cNvPr id="94" name="Shape 22"/>
          <p:cNvSpPr/>
          <p:nvPr/>
        </p:nvSpPr>
        <p:spPr>
          <a:xfrm>
            <a:off x="365760" y="406908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95" name="Shape 23"/>
          <p:cNvSpPr/>
          <p:nvPr/>
        </p:nvSpPr>
        <p:spPr>
          <a:xfrm>
            <a:off x="365760" y="4069080"/>
            <a:ext cx="54360" cy="658080"/>
          </a:xfrm>
          <a:prstGeom prst="rect">
            <a:avLst/>
          </a:prstGeom>
          <a:solidFill>
            <a:srgbClr val="00c9a7"/>
          </a:solidFill>
          <a:ln w="0">
            <a:noFill/>
          </a:ln>
        </p:spPr>
        <p:style>
          <a:lnRef idx="0"/>
          <a:fillRef idx="0"/>
          <a:effectRef idx="0"/>
          <a:fontRef idx="minor"/>
        </p:style>
      </p:sp>
      <p:sp>
        <p:nvSpPr>
          <p:cNvPr id="96" name="Text 24"/>
          <p:cNvSpPr/>
          <p:nvPr/>
        </p:nvSpPr>
        <p:spPr>
          <a:xfrm>
            <a:off x="475560" y="410580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05</a:t>
            </a:r>
            <a:endParaRPr b="0" lang="en-US" sz="1800" spc="-1" strike="noStrike">
              <a:latin typeface="Arial"/>
            </a:endParaRPr>
          </a:p>
        </p:txBody>
      </p:sp>
      <p:sp>
        <p:nvSpPr>
          <p:cNvPr id="97" name="Text 25"/>
          <p:cNvSpPr/>
          <p:nvPr/>
        </p:nvSpPr>
        <p:spPr>
          <a:xfrm>
            <a:off x="960120" y="410580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Cloud &amp; infrastructure AWS</a:t>
            </a:r>
            <a:endParaRPr b="0" lang="en-US" sz="1050" spc="-1" strike="noStrike">
              <a:latin typeface="Arial"/>
            </a:endParaRPr>
          </a:p>
        </p:txBody>
      </p:sp>
      <p:sp>
        <p:nvSpPr>
          <p:cNvPr id="98" name="Text 26"/>
          <p:cNvSpPr/>
          <p:nvPr/>
        </p:nvSpPr>
        <p:spPr>
          <a:xfrm>
            <a:off x="960120" y="441648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8</a:t>
            </a:r>
            <a:endParaRPr b="0" lang="en-US" sz="900" spc="-1" strike="noStrike">
              <a:latin typeface="Arial"/>
            </a:endParaRPr>
          </a:p>
        </p:txBody>
      </p:sp>
      <p:sp>
        <p:nvSpPr>
          <p:cNvPr id="99" name="Shape 27"/>
          <p:cNvSpPr/>
          <p:nvPr/>
        </p:nvSpPr>
        <p:spPr>
          <a:xfrm>
            <a:off x="4846320" y="96012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100" name="Shape 28"/>
          <p:cNvSpPr/>
          <p:nvPr/>
        </p:nvSpPr>
        <p:spPr>
          <a:xfrm>
            <a:off x="4846320" y="960120"/>
            <a:ext cx="54360" cy="658080"/>
          </a:xfrm>
          <a:prstGeom prst="rect">
            <a:avLst/>
          </a:prstGeom>
          <a:solidFill>
            <a:srgbClr val="00c9a7"/>
          </a:solidFill>
          <a:ln w="0">
            <a:noFill/>
          </a:ln>
        </p:spPr>
        <p:style>
          <a:lnRef idx="0"/>
          <a:fillRef idx="0"/>
          <a:effectRef idx="0"/>
          <a:fontRef idx="minor"/>
        </p:style>
      </p:sp>
      <p:sp>
        <p:nvSpPr>
          <p:cNvPr id="101" name="Text 29"/>
          <p:cNvSpPr/>
          <p:nvPr/>
        </p:nvSpPr>
        <p:spPr>
          <a:xfrm>
            <a:off x="4956120" y="99684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06</a:t>
            </a:r>
            <a:endParaRPr b="0" lang="en-US" sz="1800" spc="-1" strike="noStrike">
              <a:latin typeface="Arial"/>
            </a:endParaRPr>
          </a:p>
        </p:txBody>
      </p:sp>
      <p:sp>
        <p:nvSpPr>
          <p:cNvPr id="102" name="Text 30"/>
          <p:cNvSpPr/>
          <p:nvPr/>
        </p:nvSpPr>
        <p:spPr>
          <a:xfrm>
            <a:off x="5440680" y="99684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Traitement de flux &amp; temps réel</a:t>
            </a:r>
            <a:endParaRPr b="0" lang="en-US" sz="1050" spc="-1" strike="noStrike">
              <a:latin typeface="Arial"/>
            </a:endParaRPr>
          </a:p>
        </p:txBody>
      </p:sp>
      <p:sp>
        <p:nvSpPr>
          <p:cNvPr id="103" name="Text 31"/>
          <p:cNvSpPr/>
          <p:nvPr/>
        </p:nvSpPr>
        <p:spPr>
          <a:xfrm>
            <a:off x="5440680" y="130752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9</a:t>
            </a:r>
            <a:endParaRPr b="0" lang="en-US" sz="900" spc="-1" strike="noStrike">
              <a:latin typeface="Arial"/>
            </a:endParaRPr>
          </a:p>
        </p:txBody>
      </p:sp>
      <p:sp>
        <p:nvSpPr>
          <p:cNvPr id="104" name="Shape 32"/>
          <p:cNvSpPr/>
          <p:nvPr/>
        </p:nvSpPr>
        <p:spPr>
          <a:xfrm>
            <a:off x="4846320" y="173736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105" name="Shape 33"/>
          <p:cNvSpPr/>
          <p:nvPr/>
        </p:nvSpPr>
        <p:spPr>
          <a:xfrm>
            <a:off x="4846320" y="1737360"/>
            <a:ext cx="54360" cy="658080"/>
          </a:xfrm>
          <a:prstGeom prst="rect">
            <a:avLst/>
          </a:prstGeom>
          <a:solidFill>
            <a:srgbClr val="00c9a7"/>
          </a:solidFill>
          <a:ln w="0">
            <a:noFill/>
          </a:ln>
        </p:spPr>
        <p:style>
          <a:lnRef idx="0"/>
          <a:fillRef idx="0"/>
          <a:effectRef idx="0"/>
          <a:fontRef idx="minor"/>
        </p:style>
      </p:sp>
      <p:sp>
        <p:nvSpPr>
          <p:cNvPr id="106" name="Text 34"/>
          <p:cNvSpPr/>
          <p:nvPr/>
        </p:nvSpPr>
        <p:spPr>
          <a:xfrm>
            <a:off x="4956120" y="177408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07</a:t>
            </a:r>
            <a:endParaRPr b="0" lang="en-US" sz="1800" spc="-1" strike="noStrike">
              <a:latin typeface="Arial"/>
            </a:endParaRPr>
          </a:p>
        </p:txBody>
      </p:sp>
      <p:sp>
        <p:nvSpPr>
          <p:cNvPr id="107" name="Text 35"/>
          <p:cNvSpPr/>
          <p:nvPr/>
        </p:nvSpPr>
        <p:spPr>
          <a:xfrm>
            <a:off x="5440680" y="177408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Machine Learning &amp; déploiement</a:t>
            </a:r>
            <a:endParaRPr b="0" lang="en-US" sz="1050" spc="-1" strike="noStrike">
              <a:latin typeface="Arial"/>
            </a:endParaRPr>
          </a:p>
        </p:txBody>
      </p:sp>
      <p:sp>
        <p:nvSpPr>
          <p:cNvPr id="108" name="Text 36"/>
          <p:cNvSpPr/>
          <p:nvPr/>
        </p:nvSpPr>
        <p:spPr>
          <a:xfrm>
            <a:off x="5440680" y="208476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6</a:t>
            </a:r>
            <a:endParaRPr b="0" lang="en-US" sz="900" spc="-1" strike="noStrike">
              <a:latin typeface="Arial"/>
            </a:endParaRPr>
          </a:p>
        </p:txBody>
      </p:sp>
      <p:sp>
        <p:nvSpPr>
          <p:cNvPr id="109" name="Shape 37"/>
          <p:cNvSpPr/>
          <p:nvPr/>
        </p:nvSpPr>
        <p:spPr>
          <a:xfrm>
            <a:off x="4846320" y="251460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110" name="Shape 38"/>
          <p:cNvSpPr/>
          <p:nvPr/>
        </p:nvSpPr>
        <p:spPr>
          <a:xfrm>
            <a:off x="4846320" y="2514600"/>
            <a:ext cx="54360" cy="658080"/>
          </a:xfrm>
          <a:prstGeom prst="rect">
            <a:avLst/>
          </a:prstGeom>
          <a:solidFill>
            <a:srgbClr val="00c9a7"/>
          </a:solidFill>
          <a:ln w="0">
            <a:noFill/>
          </a:ln>
        </p:spPr>
        <p:style>
          <a:lnRef idx="0"/>
          <a:fillRef idx="0"/>
          <a:effectRef idx="0"/>
          <a:fontRef idx="minor"/>
        </p:style>
      </p:sp>
      <p:sp>
        <p:nvSpPr>
          <p:cNvPr id="111" name="Text 39"/>
          <p:cNvSpPr/>
          <p:nvPr/>
        </p:nvSpPr>
        <p:spPr>
          <a:xfrm>
            <a:off x="4956120" y="255132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08</a:t>
            </a:r>
            <a:endParaRPr b="0" lang="en-US" sz="1800" spc="-1" strike="noStrike">
              <a:latin typeface="Arial"/>
            </a:endParaRPr>
          </a:p>
        </p:txBody>
      </p:sp>
      <p:sp>
        <p:nvSpPr>
          <p:cNvPr id="112" name="Text 40"/>
          <p:cNvSpPr/>
          <p:nvPr/>
        </p:nvSpPr>
        <p:spPr>
          <a:xfrm>
            <a:off x="5440680" y="255132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Pipeline ETL complet &amp; monitoring</a:t>
            </a:r>
            <a:endParaRPr b="0" lang="en-US" sz="1050" spc="-1" strike="noStrike">
              <a:latin typeface="Arial"/>
            </a:endParaRPr>
          </a:p>
        </p:txBody>
      </p:sp>
      <p:sp>
        <p:nvSpPr>
          <p:cNvPr id="113" name="Text 41"/>
          <p:cNvSpPr/>
          <p:nvPr/>
        </p:nvSpPr>
        <p:spPr>
          <a:xfrm>
            <a:off x="5440680" y="286200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12</a:t>
            </a:r>
            <a:endParaRPr b="0" lang="en-US" sz="900" spc="-1" strike="noStrike">
              <a:latin typeface="Arial"/>
            </a:endParaRPr>
          </a:p>
        </p:txBody>
      </p:sp>
      <p:sp>
        <p:nvSpPr>
          <p:cNvPr id="114" name="Shape 42"/>
          <p:cNvSpPr/>
          <p:nvPr/>
        </p:nvSpPr>
        <p:spPr>
          <a:xfrm>
            <a:off x="4846320" y="329184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115" name="Shape 43"/>
          <p:cNvSpPr/>
          <p:nvPr/>
        </p:nvSpPr>
        <p:spPr>
          <a:xfrm>
            <a:off x="4846320" y="3291840"/>
            <a:ext cx="54360" cy="658080"/>
          </a:xfrm>
          <a:prstGeom prst="rect">
            <a:avLst/>
          </a:prstGeom>
          <a:solidFill>
            <a:srgbClr val="00c9a7"/>
          </a:solidFill>
          <a:ln w="0">
            <a:noFill/>
          </a:ln>
        </p:spPr>
        <p:style>
          <a:lnRef idx="0"/>
          <a:fillRef idx="0"/>
          <a:effectRef idx="0"/>
          <a:fontRef idx="minor"/>
        </p:style>
      </p:sp>
      <p:sp>
        <p:nvSpPr>
          <p:cNvPr id="116" name="Text 44"/>
          <p:cNvSpPr/>
          <p:nvPr/>
        </p:nvSpPr>
        <p:spPr>
          <a:xfrm>
            <a:off x="4956120" y="332856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09</a:t>
            </a:r>
            <a:endParaRPr b="0" lang="en-US" sz="1800" spc="-1" strike="noStrike">
              <a:latin typeface="Arial"/>
            </a:endParaRPr>
          </a:p>
        </p:txBody>
      </p:sp>
      <p:sp>
        <p:nvSpPr>
          <p:cNvPr id="117" name="Text 45"/>
          <p:cNvSpPr/>
          <p:nvPr/>
        </p:nvSpPr>
        <p:spPr>
          <a:xfrm>
            <a:off x="5440680" y="332856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IA générative &amp; RAG</a:t>
            </a:r>
            <a:endParaRPr b="0" lang="en-US" sz="1050" spc="-1" strike="noStrike">
              <a:latin typeface="Arial"/>
            </a:endParaRPr>
          </a:p>
        </p:txBody>
      </p:sp>
      <p:sp>
        <p:nvSpPr>
          <p:cNvPr id="118" name="Text 46"/>
          <p:cNvSpPr/>
          <p:nvPr/>
        </p:nvSpPr>
        <p:spPr>
          <a:xfrm>
            <a:off x="5440680" y="363924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11</a:t>
            </a:r>
            <a:endParaRPr b="0" lang="en-US" sz="900" spc="-1" strike="noStrike">
              <a:latin typeface="Arial"/>
            </a:endParaRPr>
          </a:p>
        </p:txBody>
      </p:sp>
      <p:sp>
        <p:nvSpPr>
          <p:cNvPr id="119" name="Shape 47"/>
          <p:cNvSpPr/>
          <p:nvPr/>
        </p:nvSpPr>
        <p:spPr>
          <a:xfrm>
            <a:off x="4846320" y="4069080"/>
            <a:ext cx="4205880" cy="658080"/>
          </a:xfrm>
          <a:prstGeom prst="rect">
            <a:avLst/>
          </a:prstGeom>
          <a:solidFill>
            <a:srgbClr val="ffffff"/>
          </a:solidFill>
          <a:ln w="0">
            <a:noFill/>
          </a:ln>
          <a:effectLst>
            <a:outerShdw algn="bl" blurRad="76320" dir="8100000" dist="25455" kx="0" ky="0" rotWithShape="0" sx="100000" sy="100000">
              <a:srgbClr val="000000">
                <a:alpha val="7000"/>
              </a:srgbClr>
            </a:outerShdw>
          </a:effectLst>
        </p:spPr>
        <p:style>
          <a:lnRef idx="0"/>
          <a:fillRef idx="0"/>
          <a:effectRef idx="0"/>
          <a:fontRef idx="minor"/>
        </p:style>
      </p:sp>
      <p:sp>
        <p:nvSpPr>
          <p:cNvPr id="120" name="Shape 48"/>
          <p:cNvSpPr/>
          <p:nvPr/>
        </p:nvSpPr>
        <p:spPr>
          <a:xfrm>
            <a:off x="4846320" y="4069080"/>
            <a:ext cx="54360" cy="658080"/>
          </a:xfrm>
          <a:prstGeom prst="rect">
            <a:avLst/>
          </a:prstGeom>
          <a:solidFill>
            <a:srgbClr val="00c9a7"/>
          </a:solidFill>
          <a:ln w="0">
            <a:noFill/>
          </a:ln>
        </p:spPr>
        <p:style>
          <a:lnRef idx="0"/>
          <a:fillRef idx="0"/>
          <a:effectRef idx="0"/>
          <a:fontRef idx="minor"/>
        </p:style>
      </p:sp>
      <p:sp>
        <p:nvSpPr>
          <p:cNvPr id="121" name="Text 49"/>
          <p:cNvSpPr/>
          <p:nvPr/>
        </p:nvSpPr>
        <p:spPr>
          <a:xfrm>
            <a:off x="4956120" y="4105800"/>
            <a:ext cx="41112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00c9a7"/>
                </a:solidFill>
                <a:latin typeface="Calibri"/>
                <a:ea typeface="Calibri"/>
              </a:rPr>
              <a:t>10</a:t>
            </a:r>
            <a:endParaRPr b="0" lang="en-US" sz="1800" spc="-1" strike="noStrike">
              <a:latin typeface="Arial"/>
            </a:endParaRPr>
          </a:p>
        </p:txBody>
      </p:sp>
      <p:sp>
        <p:nvSpPr>
          <p:cNvPr id="122" name="Text 50"/>
          <p:cNvSpPr/>
          <p:nvPr/>
        </p:nvSpPr>
        <p:spPr>
          <a:xfrm>
            <a:off x="5440680" y="410580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e293b"/>
                </a:solidFill>
                <a:latin typeface="Calibri"/>
                <a:ea typeface="Calibri"/>
              </a:rPr>
              <a:t>Gestion de projet &amp; architecture cloud</a:t>
            </a:r>
            <a:endParaRPr b="0" lang="en-US" sz="1050" spc="-1" strike="noStrike">
              <a:latin typeface="Arial"/>
            </a:endParaRPr>
          </a:p>
        </p:txBody>
      </p:sp>
      <p:sp>
        <p:nvSpPr>
          <p:cNvPr id="123" name="Text 51"/>
          <p:cNvSpPr/>
          <p:nvPr/>
        </p:nvSpPr>
        <p:spPr>
          <a:xfrm>
            <a:off x="5440680" y="4416480"/>
            <a:ext cx="27428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Projet 13</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24"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125"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126"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01</a:t>
            </a:r>
            <a:endParaRPr b="0" lang="en-US" sz="8000" spc="-1" strike="noStrike">
              <a:latin typeface="Arial"/>
            </a:endParaRPr>
          </a:p>
        </p:txBody>
      </p:sp>
      <p:sp>
        <p:nvSpPr>
          <p:cNvPr id="127"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128"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Analyse de données &amp; exploration</a:t>
            </a:r>
            <a:endParaRPr b="0" lang="en-US" sz="2800" spc="-1" strike="noStrike">
              <a:latin typeface="Arial"/>
            </a:endParaRPr>
          </a:p>
        </p:txBody>
      </p:sp>
      <p:sp>
        <p:nvSpPr>
          <p:cNvPr id="129"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2 — Expansion internationale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30"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131"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132"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2 — Analyse de marché pour une expansion internationale</a:t>
            </a:r>
            <a:endParaRPr b="0" lang="en-US" sz="1700" spc="-1" strike="noStrike">
              <a:latin typeface="Arial"/>
            </a:endParaRPr>
          </a:p>
        </p:txBody>
      </p:sp>
      <p:sp>
        <p:nvSpPr>
          <p:cNvPr id="133"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34"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135"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136"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Une entreprise souhaite identifier les pays les plus attractifs pour une expansion internationale. Les données mondiales de la Banque Mondiale sont exploitées selon quatre axes : démographie (15–24 ans), économie (revenus), éducation (taux de scolarisation) et numérique (accès à Internet).</a:t>
            </a:r>
            <a:endParaRPr b="0" lang="en-US" sz="1050" spc="-1" strike="noStrike">
              <a:latin typeface="Arial"/>
            </a:endParaRPr>
          </a:p>
        </p:txBody>
      </p:sp>
      <p:sp>
        <p:nvSpPr>
          <p:cNvPr id="137"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38"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139"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140"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Pandas · NumPy · Matplotlib · Seaborn · pycountry · Jupyter Lab · Poetry</a:t>
            </a:r>
            <a:endParaRPr b="0" lang="en-US" sz="1000" spc="-1" strike="noStrike">
              <a:latin typeface="Arial"/>
            </a:endParaRPr>
          </a:p>
        </p:txBody>
      </p:sp>
      <p:sp>
        <p:nvSpPr>
          <p:cNvPr id="141"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42"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143"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144"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Exploration et nettoyage de données multi-fichiers CSV (5 fichiers EdStats)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Sélection et normalisation d'indicateurs statistiques sur une période temporelle</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Analyse de corrélations entre variables hétérogènes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Production de classements et recommandations stratégiques basées sur les données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45"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146"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147"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02</a:t>
            </a:r>
            <a:endParaRPr b="0" lang="en-US" sz="8000" spc="-1" strike="noStrike">
              <a:latin typeface="Arial"/>
            </a:endParaRPr>
          </a:p>
        </p:txBody>
      </p:sp>
      <p:sp>
        <p:nvSpPr>
          <p:cNvPr id="148"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149"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Bases de données relationnelles &amp; qualité des données</a:t>
            </a:r>
            <a:endParaRPr b="0" lang="en-US" sz="2800" spc="-1" strike="noStrike">
              <a:latin typeface="Arial"/>
            </a:endParaRPr>
          </a:p>
        </p:txBody>
      </p:sp>
      <p:sp>
        <p:nvSpPr>
          <p:cNvPr id="150"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Projets 3 &amp; 4 — Immobilier &amp; Distribution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1"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152"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153"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3 — Analyse du marché immobilier français</a:t>
            </a:r>
            <a:endParaRPr b="0" lang="en-US" sz="1700" spc="-1" strike="noStrike">
              <a:latin typeface="Arial"/>
            </a:endParaRPr>
          </a:p>
        </p:txBody>
      </p:sp>
      <p:sp>
        <p:nvSpPr>
          <p:cNvPr id="154"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55"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156"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157"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Une agence immobilière souhaite analyser le marché résidentiel français en 2020 à partir de données publiques brutes. L'objectif est de construire une base de données relationnelle et d'en extraire des indicateurs clés via SQL (prix au m², volumes de ventes, évolution trimestrielle).</a:t>
            </a:r>
            <a:endParaRPr b="0" lang="en-US" sz="1050" spc="-1" strike="noStrike">
              <a:latin typeface="Arial"/>
            </a:endParaRPr>
          </a:p>
        </p:txBody>
      </p:sp>
      <p:sp>
        <p:nvSpPr>
          <p:cNvPr id="158"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59"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160"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161"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Pandas · Jupyter Notebook · PostgreSQL · SQL · PgAdmin · PlantUML · Excel</a:t>
            </a:r>
            <a:endParaRPr b="0" lang="en-US" sz="1000" spc="-1" strike="noStrike">
              <a:latin typeface="Arial"/>
            </a:endParaRPr>
          </a:p>
        </p:txBody>
      </p:sp>
      <p:sp>
        <p:nvSpPr>
          <p:cNvPr id="162"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63"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164"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165"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d'un modèle conceptuel de données (MCD) et traduction en schéma relationnel SQL</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Nettoyage et préparation de données brutes multi-sources en Python</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Écriture de requêtes SQL analytiques avancées (agrégations, jointures, classements)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Réponse à des besoins métier concrets via des indicateurs mesurables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6"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167"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168"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4 — Analyse des ventes et audit de données</a:t>
            </a:r>
            <a:endParaRPr b="0" lang="en-US" sz="1700" spc="-1" strike="noStrike">
              <a:latin typeface="Arial"/>
            </a:endParaRPr>
          </a:p>
        </p:txBody>
      </p:sp>
      <p:sp>
        <p:nvSpPr>
          <p:cNvPr id="169"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70"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171"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172"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Une enseigne de grande distribution dispose de données brutes hétérogènes (transactions, catalogue produits, clients, employés, logs). La mission est d'auditer la qualité de ces données, d'identifier les anomalies et de produire des analyses de ventes.</a:t>
            </a:r>
            <a:endParaRPr b="0" lang="en-US" sz="1050" spc="-1" strike="noStrike">
              <a:latin typeface="Arial"/>
            </a:endParaRPr>
          </a:p>
        </p:txBody>
      </p:sp>
      <p:sp>
        <p:nvSpPr>
          <p:cNvPr id="173"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74"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175"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176"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PostgreSQL · SQL · Python · Pandas · Jupyter Notebook · Excel</a:t>
            </a:r>
            <a:endParaRPr b="0" lang="en-US" sz="1000" spc="-1" strike="noStrike">
              <a:latin typeface="Arial"/>
            </a:endParaRPr>
          </a:p>
        </p:txBody>
      </p:sp>
      <p:sp>
        <p:nvSpPr>
          <p:cNvPr id="177"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78"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179"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180"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Audit de qualité des données : détection de doublons, incohérences de prix, tickets multi-journées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Alimentation d'une base de données relationnelle à partir de fichiers hétérogènes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Analyse des ventes : chiffre d'affaires journalier, top clients, répartition par employé</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Investigation et quantification des anomalies via le journal de logs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81"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182"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183"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03</a:t>
            </a:r>
            <a:endParaRPr b="0" lang="en-US" sz="8000" spc="-1" strike="noStrike">
              <a:latin typeface="Arial"/>
            </a:endParaRPr>
          </a:p>
        </p:txBody>
      </p:sp>
      <p:sp>
        <p:nvSpPr>
          <p:cNvPr id="184"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185"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Stockage NoSQL &amp; architecture distribuée</a:t>
            </a:r>
            <a:endParaRPr b="0" lang="en-US" sz="2800" spc="-1" strike="noStrike">
              <a:latin typeface="Arial"/>
            </a:endParaRPr>
          </a:p>
        </p:txBody>
      </p:sp>
      <p:sp>
        <p:nvSpPr>
          <p:cNvPr id="186"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Projets 5 &amp; 7 — Migration MongoDB &amp; Airbnb</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87"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188"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189"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5 — Migration CSV vers MongoDB avec Docker</a:t>
            </a:r>
            <a:endParaRPr b="0" lang="en-US" sz="1700" spc="-1" strike="noStrike">
              <a:latin typeface="Arial"/>
            </a:endParaRPr>
          </a:p>
        </p:txBody>
      </p:sp>
      <p:sp>
        <p:nvSpPr>
          <p:cNvPr id="190"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91"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192"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193"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Migration d'un dataset CSV (données de santé) vers une base de données MongoDB conteneurisée sous Docker. L'objectif est d'automatiser l'intégration des données et de documenter le processus de bout en bout.</a:t>
            </a:r>
            <a:endParaRPr b="0" lang="en-US" sz="1050" spc="-1" strike="noStrike">
              <a:latin typeface="Arial"/>
            </a:endParaRPr>
          </a:p>
        </p:txBody>
      </p:sp>
      <p:sp>
        <p:nvSpPr>
          <p:cNvPr id="194"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95"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196"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197"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Pandas · PyMongo · MongoDB · Docker · Docker Compose</a:t>
            </a:r>
            <a:endParaRPr b="0" lang="en-US" sz="1000" spc="-1" strike="noStrike">
              <a:latin typeface="Arial"/>
            </a:endParaRPr>
          </a:p>
        </p:txBody>
      </p:sp>
      <p:sp>
        <p:nvSpPr>
          <p:cNvPr id="198"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199"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200"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201"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d'une architecture conteneurisée avec Docker Compose</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Écriture d'un script d'intégration de données CSV → MongoDB</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Documentation technique d'un processus de migration de données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02"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203"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204"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7 — Conception d'une architecture NoSQL pour Airbnb</a:t>
            </a:r>
            <a:endParaRPr b="0" lang="en-US" sz="1700" spc="-1" strike="noStrike">
              <a:latin typeface="Arial"/>
            </a:endParaRPr>
          </a:p>
        </p:txBody>
      </p:sp>
      <p:sp>
        <p:nvSpPr>
          <p:cNvPr id="205"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06"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207"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208"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Suite à un crash de base de données, les données Airbnb (Paris et Lyon) doivent être restaurées depuis une sauvegarde et réintégrées dans une architecture MongoDB repensée pour garantir la haute disponibilité et la scalabilité.</a:t>
            </a:r>
            <a:endParaRPr b="0" lang="en-US" sz="1050" spc="-1" strike="noStrike">
              <a:latin typeface="Arial"/>
            </a:endParaRPr>
          </a:p>
        </p:txBody>
      </p:sp>
      <p:sp>
        <p:nvSpPr>
          <p:cNvPr id="209"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10"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211"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212"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MongoDB · Docker · Docker Compose · Python · Pandas · PyMongo · Polars · MongoDB Compass · mongosh</a:t>
            </a:r>
            <a:endParaRPr b="0" lang="en-US" sz="1000" spc="-1" strike="noStrike">
              <a:latin typeface="Arial"/>
            </a:endParaRPr>
          </a:p>
        </p:txBody>
      </p:sp>
      <p:sp>
        <p:nvSpPr>
          <p:cNvPr id="213"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14"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215"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216"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et comparaison de trois architectures MongoDB : standalone, replica set, cluster shardé</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Restauration et import de données depuis une sauvegarde CSV</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Écriture de requêtes d'agrégation MongoDB et analyses Polars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Garantie de haute disponibilité (replica set) et scalabilité horizontale (sharding)</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17"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218"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219"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04</a:t>
            </a:r>
            <a:endParaRPr b="0" lang="en-US" sz="8000" spc="-1" strike="noStrike">
              <a:latin typeface="Arial"/>
            </a:endParaRPr>
          </a:p>
        </p:txBody>
      </p:sp>
      <p:sp>
        <p:nvSpPr>
          <p:cNvPr id="220"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221"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Pipelines de données &amp; orchestration</a:t>
            </a:r>
            <a:endParaRPr b="0" lang="en-US" sz="2800" spc="-1" strike="noStrike">
              <a:latin typeface="Arial"/>
            </a:endParaRPr>
          </a:p>
        </p:txBody>
      </p:sp>
      <p:sp>
        <p:nvSpPr>
          <p:cNvPr id="222"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10 — Workflow Kestra pour vins</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23"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224"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225"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10 — Workflow d'orchestration Kestra pour la réconciliation de données vins</a:t>
            </a:r>
            <a:endParaRPr b="0" lang="en-US" sz="1700" spc="-1" strike="noStrike">
              <a:latin typeface="Arial"/>
            </a:endParaRPr>
          </a:p>
        </p:txBody>
      </p:sp>
      <p:sp>
        <p:nvSpPr>
          <p:cNvPr id="226"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27"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228"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229"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Un vendeur de vins en ligne dispose de données issues de trois sources distinctes (ERP, site e-commerce, table de liaison) qui doivent être consolidées mensuellement pour calculer le chiffre d'affaires, détecter les incohérences de stock et identifier les produits premium.</a:t>
            </a:r>
            <a:endParaRPr b="0" lang="en-US" sz="1050" spc="-1" strike="noStrike">
              <a:latin typeface="Arial"/>
            </a:endParaRPr>
          </a:p>
        </p:txBody>
      </p:sp>
      <p:sp>
        <p:nvSpPr>
          <p:cNvPr id="230"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31"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232"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233"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Kestra · Python · Pandas · NumPy · DuckDB · SQL</a:t>
            </a:r>
            <a:endParaRPr b="0" lang="en-US" sz="1000" spc="-1" strike="noStrike">
              <a:latin typeface="Arial"/>
            </a:endParaRPr>
          </a:p>
        </p:txBody>
      </p:sp>
      <p:sp>
        <p:nvSpPr>
          <p:cNvPr id="234"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35"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236"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237"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d'un workflow d'orchestration planifié (cron mensuel) avec Kestra</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Fusion de données multi-sources via jointures SQL (DuckDB) et Python (Pandas)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Analyse statistique (z-score) pour la classification de produits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Reporting structuré : exports CSV et Excel multi-onglets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Contrôles de cohérence automatisés et gestion des exceptions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38"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239"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240"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05</a:t>
            </a:r>
            <a:endParaRPr b="0" lang="en-US" sz="8000" spc="-1" strike="noStrike">
              <a:latin typeface="Arial"/>
            </a:endParaRPr>
          </a:p>
        </p:txBody>
      </p:sp>
      <p:sp>
        <p:nvSpPr>
          <p:cNvPr id="241"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242"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Cloud &amp; infrastructure AWS</a:t>
            </a:r>
            <a:endParaRPr b="0" lang="en-US" sz="2800" spc="-1" strike="noStrike">
              <a:latin typeface="Arial"/>
            </a:endParaRPr>
          </a:p>
        </p:txBody>
      </p:sp>
      <p:sp>
        <p:nvSpPr>
          <p:cNvPr id="243"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8 — Pipeline météorologique GreenCorp</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44"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245"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246"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8 — Pipeline de collecte et de stockage de données météorologiques</a:t>
            </a:r>
            <a:endParaRPr b="0" lang="en-US" sz="1700" spc="-1" strike="noStrike">
              <a:latin typeface="Arial"/>
            </a:endParaRPr>
          </a:p>
        </p:txBody>
      </p:sp>
      <p:sp>
        <p:nvSpPr>
          <p:cNvPr id="247"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48"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249"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250"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GreenCorp a besoin de données météorologiques fiables et harmonisées pour alimenter ses analyses. Le pipeline extrait les données depuis des APIs météorologiques, les transforme et les charge dans MongoDB, d'abord en local puis déployé sur AWS.</a:t>
            </a:r>
            <a:endParaRPr b="0" lang="en-US" sz="1050" spc="-1" strike="noStrike">
              <a:latin typeface="Arial"/>
            </a:endParaRPr>
          </a:p>
        </p:txBody>
      </p:sp>
      <p:sp>
        <p:nvSpPr>
          <p:cNvPr id="251"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52"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253"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254"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Airbyte · Python (Pandas, PyMongo, Polars) · MongoDB · Docker · Docker Compose · JSONL · AWS (EC2, DocumentDB, S3)</a:t>
            </a:r>
            <a:endParaRPr b="0" lang="en-US" sz="1000" spc="-1" strike="noStrike">
              <a:latin typeface="Arial"/>
            </a:endParaRPr>
          </a:p>
        </p:txBody>
      </p:sp>
      <p:sp>
        <p:nvSpPr>
          <p:cNvPr id="255"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56"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257"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258"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Orchestration de l'extraction de données via Airbyte (APIs météo → S3)</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Transformation et harmonisation de données hétérogènes (unités, formats, langues)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Script de contrôle qualité automatisé (types, valeurs nulles, coordonnées, horodatages)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Déploiement cloud AWS : EC2, DocumentDB (cluster avec replica), S3</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Monitoring et reporting de l'infrastructure AWS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59"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260"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261"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06</a:t>
            </a:r>
            <a:endParaRPr b="0" lang="en-US" sz="8000" spc="-1" strike="noStrike">
              <a:latin typeface="Arial"/>
            </a:endParaRPr>
          </a:p>
        </p:txBody>
      </p:sp>
      <p:sp>
        <p:nvSpPr>
          <p:cNvPr id="262"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263"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Traitement de flux &amp; données temps réel</a:t>
            </a:r>
            <a:endParaRPr b="0" lang="en-US" sz="2800" spc="-1" strike="noStrike">
              <a:latin typeface="Arial"/>
            </a:endParaRPr>
          </a:p>
        </p:txBody>
      </p:sp>
      <p:sp>
        <p:nvSpPr>
          <p:cNvPr id="264"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9 — Pipeline Kafka &amp; PySpark</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65"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266"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267"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9 — Pipeline d'analyse de tickets avec Kafka et PySpark</a:t>
            </a:r>
            <a:endParaRPr b="0" lang="en-US" sz="1700" spc="-1" strike="noStrike">
              <a:latin typeface="Arial"/>
            </a:endParaRPr>
          </a:p>
        </p:txBody>
      </p:sp>
      <p:sp>
        <p:nvSpPr>
          <p:cNvPr id="268"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69"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270"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271"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Des tickets clients doivent être produits en flux continu, analysés et distribués automatiquement vers les équipes de support adaptées (incident, support général, produit) en fonction de leur contenu.</a:t>
            </a:r>
            <a:endParaRPr b="0" lang="en-US" sz="1050" spc="-1" strike="noStrike">
              <a:latin typeface="Arial"/>
            </a:endParaRPr>
          </a:p>
        </p:txBody>
      </p:sp>
      <p:sp>
        <p:nvSpPr>
          <p:cNvPr id="272"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73"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274"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275"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Redpanda (Kafka) · PySpark · Docker · Docker Compose · Parquet · JSON</a:t>
            </a:r>
            <a:endParaRPr b="0" lang="en-US" sz="1000" spc="-1" strike="noStrike">
              <a:latin typeface="Arial"/>
            </a:endParaRPr>
          </a:p>
        </p:txBody>
      </p:sp>
      <p:sp>
        <p:nvSpPr>
          <p:cNvPr id="276"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77"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278"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279"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d'un pipeline de streaming end-to-end : producteur → broker Kafka → consommateur PySpark</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Analyse et enrichissement de données en temps réel (analyse de mots-clés, statistiques par type)</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Distribution automatique des messages vers des topics Kafka par équipe</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Persistance des résultats en formats Parquet et JSON</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Monitoring temps réel via la console Redpanda</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80"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281"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282"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07</a:t>
            </a:r>
            <a:endParaRPr b="0" lang="en-US" sz="8000" spc="-1" strike="noStrike">
              <a:latin typeface="Arial"/>
            </a:endParaRPr>
          </a:p>
        </p:txBody>
      </p:sp>
      <p:sp>
        <p:nvSpPr>
          <p:cNvPr id="283"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284"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Machine Learning &amp; déploiement de modèle</a:t>
            </a:r>
            <a:endParaRPr b="0" lang="en-US" sz="2800" spc="-1" strike="noStrike">
              <a:latin typeface="Arial"/>
            </a:endParaRPr>
          </a:p>
        </p:txBody>
      </p:sp>
      <p:sp>
        <p:nvSpPr>
          <p:cNvPr id="285"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6 — Prédiction énergétique Seattle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86"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287"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288"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6 — Prédiction de la consommation énergétique des bâtiments (Seattle)</a:t>
            </a:r>
            <a:endParaRPr b="0" lang="en-US" sz="1700" spc="-1" strike="noStrike">
              <a:latin typeface="Arial"/>
            </a:endParaRPr>
          </a:p>
        </p:txBody>
      </p:sp>
      <p:sp>
        <p:nvSpPr>
          <p:cNvPr id="289"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90"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291"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292"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La ville de Seattle impose aux propriétaires de bâtiments non résidentiels de déclarer leur consommation énergétique. L'objectif est de prédire cette consommation à partir des caractéristiques structurelles des bâtiments et de déployer le modèle sous forme d'API REST conteneurisée.</a:t>
            </a:r>
            <a:endParaRPr b="0" lang="en-US" sz="1050" spc="-1" strike="noStrike">
              <a:latin typeface="Arial"/>
            </a:endParaRPr>
          </a:p>
        </p:txBody>
      </p:sp>
      <p:sp>
        <p:nvSpPr>
          <p:cNvPr id="293"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94"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295"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296"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Pandas · NumPy · Matplotlib · Seaborn · Scikit-learn (LinearRegression, SVR, RandomForest, GridSearchCV) · BentoML · Pydantic · Docker</a:t>
            </a:r>
            <a:endParaRPr b="0" lang="en-US" sz="1000" spc="-1" strike="noStrike">
              <a:latin typeface="Arial"/>
            </a:endParaRPr>
          </a:p>
        </p:txBody>
      </p:sp>
      <p:sp>
        <p:nvSpPr>
          <p:cNvPr id="297"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298"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299"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300"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Analyse exploratoire et feature engineering (ancienneté, ratios de surface, etc.)</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Entraînement et comparaison de modèles de régression supervisée</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Optimisation des hyperparamètres via GridSearchCV</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Déploiement d'un modèle ML sous forme d'API REST avec BentoML</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Conteneurisation du service de prédiction avec Docker</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01"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302"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303"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08</a:t>
            </a:r>
            <a:endParaRPr b="0" lang="en-US" sz="8000" spc="-1" strike="noStrike">
              <a:latin typeface="Arial"/>
            </a:endParaRPr>
          </a:p>
        </p:txBody>
      </p:sp>
      <p:sp>
        <p:nvSpPr>
          <p:cNvPr id="304"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305"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Pipeline ETL complet &amp; monitoring</a:t>
            </a:r>
            <a:endParaRPr b="0" lang="en-US" sz="2800" spc="-1" strike="noStrike">
              <a:latin typeface="Arial"/>
            </a:endParaRPr>
          </a:p>
        </p:txBody>
      </p:sp>
      <p:sp>
        <p:nvSpPr>
          <p:cNvPr id="306"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12 — Pipeline RH avec Prometheus &amp; Grafana</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07"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308"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309"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12 — Pipeline ETL RH avec monitoring et notifications</a:t>
            </a:r>
            <a:endParaRPr b="0" lang="en-US" sz="1700" spc="-1" strike="noStrike">
              <a:latin typeface="Arial"/>
            </a:endParaRPr>
          </a:p>
        </p:txBody>
      </p:sp>
      <p:sp>
        <p:nvSpPr>
          <p:cNvPr id="310"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11"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312"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313"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Une entreprise souhaite automatiser le traitement de ses données RH pour calculer des primes de mobilité durable (mode de déplacement + distance géocodée) et des jours de bien-être (activité physique enregistrée), avec supervision en temps réel.</a:t>
            </a:r>
            <a:endParaRPr b="0" lang="en-US" sz="1050" spc="-1" strike="noStrike">
              <a:latin typeface="Arial"/>
            </a:endParaRPr>
          </a:p>
        </p:txBody>
      </p:sp>
      <p:sp>
        <p:nvSpPr>
          <p:cNvPr id="314"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15"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316"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317"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Pandas · SQLAlchemy · psycopg2 · PostgreSQL · PgAdmin · Geopy/Nominatim · Mimesis · Slack SDK · Prometheus · Grafana · Node Exporter · cAdvisor · Postgres Exporter · Power BI · Docker · Docker Compose</a:t>
            </a:r>
            <a:endParaRPr b="0" lang="en-US" sz="1000" spc="-1" strike="noStrike">
              <a:latin typeface="Arial"/>
            </a:endParaRPr>
          </a:p>
        </p:txBody>
      </p:sp>
      <p:sp>
        <p:nvSpPr>
          <p:cNvPr id="318"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19"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320"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321"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et déploiement d'un pipeline ETL complet automatisé (cycle 24h)</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Géocodage d'adresses pour le calcul de distances réelles domicile-travail</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Architecture multi-conteneurs Docker avec séparation des responsabilités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Monitoring de pipeline en temps réel (Prometheus + Grafana)</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Notifications automatiques via Slack à chaque événement métier</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Visualisation des résultats dans un tableau de bord Power BI</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22"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323"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324"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09</a:t>
            </a:r>
            <a:endParaRPr b="0" lang="en-US" sz="8000" spc="-1" strike="noStrike">
              <a:latin typeface="Arial"/>
            </a:endParaRPr>
          </a:p>
        </p:txBody>
      </p:sp>
      <p:sp>
        <p:nvSpPr>
          <p:cNvPr id="325"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326"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IA générative &amp; RAG</a:t>
            </a:r>
            <a:endParaRPr b="0" lang="en-US" sz="2800" spc="-1" strike="noStrike">
              <a:latin typeface="Arial"/>
            </a:endParaRPr>
          </a:p>
        </p:txBody>
      </p:sp>
      <p:sp>
        <p:nvSpPr>
          <p:cNvPr id="327"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11 — Chatbot événements culturels</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28"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329"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330"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11 — Pipeline RAG pour la recommandation d'événements culturels</a:t>
            </a:r>
            <a:endParaRPr b="0" lang="en-US" sz="1700" spc="-1" strike="noStrike">
              <a:latin typeface="Arial"/>
            </a:endParaRPr>
          </a:p>
        </p:txBody>
      </p:sp>
      <p:sp>
        <p:nvSpPr>
          <p:cNvPr id="331"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32"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333"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334"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Permettre à des utilisateurs d'interroger en langage naturel les événements publics à venir en France (collectés via l'API OpenAgenda), grâce à un système de recherche vectorielle et un chatbot propulsé par un LLM local.</a:t>
            </a:r>
            <a:endParaRPr b="0" lang="en-US" sz="1050" spc="-1" strike="noStrike">
              <a:latin typeface="Arial"/>
            </a:endParaRPr>
          </a:p>
        </p:txBody>
      </p:sp>
      <p:sp>
        <p:nvSpPr>
          <p:cNvPr id="335"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36"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337"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338"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OpenAgenda API · FAISS · Ollama · Mistral-Nemo (LLM) · pytest</a:t>
            </a:r>
            <a:endParaRPr b="0" lang="en-US" sz="1000" spc="-1" strike="noStrike">
              <a:latin typeface="Arial"/>
            </a:endParaRPr>
          </a:p>
        </p:txBody>
      </p:sp>
      <p:sp>
        <p:nvSpPr>
          <p:cNvPr id="339"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40"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341"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342"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Collecte et nettoyage de données via API REST (OpenAgenda)</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Création et gestion d'un index de recherche vectorielle (FAISS)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d'un pipeline RAG (Retrieval-Augmented Generation) de bout en bout</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Intégration d'un LLM local (Mistral-Nemo via Ollama) avec prompt engineering</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Tests unitaires et post-traitement automatisés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43"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344"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345" name="Text 2"/>
          <p:cNvSpPr/>
          <p:nvPr/>
        </p:nvSpPr>
        <p:spPr>
          <a:xfrm>
            <a:off x="365760" y="640080"/>
            <a:ext cx="1828440" cy="1371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000" spc="-1" strike="noStrike">
                <a:solidFill>
                  <a:srgbClr val="ffffff">
                    <a:alpha val="90000"/>
                  </a:srgbClr>
                </a:solidFill>
                <a:latin typeface="Calibri"/>
                <a:ea typeface="Calibri"/>
              </a:rPr>
              <a:t>10</a:t>
            </a:r>
            <a:endParaRPr b="0" lang="en-US" sz="8000" spc="-1" strike="noStrike">
              <a:latin typeface="Arial"/>
            </a:endParaRPr>
          </a:p>
        </p:txBody>
      </p:sp>
      <p:sp>
        <p:nvSpPr>
          <p:cNvPr id="346" name="Shape 3"/>
          <p:cNvSpPr/>
          <p:nvPr/>
        </p:nvSpPr>
        <p:spPr>
          <a:xfrm>
            <a:off x="365760" y="1965960"/>
            <a:ext cx="1096920" cy="54360"/>
          </a:xfrm>
          <a:prstGeom prst="rect">
            <a:avLst/>
          </a:prstGeom>
          <a:solidFill>
            <a:srgbClr val="00c9a7"/>
          </a:solidFill>
          <a:ln w="0">
            <a:noFill/>
          </a:ln>
        </p:spPr>
        <p:style>
          <a:lnRef idx="0"/>
          <a:fillRef idx="0"/>
          <a:effectRef idx="0"/>
          <a:fontRef idx="minor"/>
        </p:style>
      </p:sp>
      <p:sp>
        <p:nvSpPr>
          <p:cNvPr id="347" name="Text 4"/>
          <p:cNvSpPr/>
          <p:nvPr/>
        </p:nvSpPr>
        <p:spPr>
          <a:xfrm>
            <a:off x="365760" y="2194560"/>
            <a:ext cx="8229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ffffff"/>
                </a:solidFill>
                <a:latin typeface="Calibri"/>
                <a:ea typeface="Calibri"/>
              </a:rPr>
              <a:t>Gestion de projet &amp; architecture cloud</a:t>
            </a:r>
            <a:endParaRPr b="0" lang="en-US" sz="2800" spc="-1" strike="noStrike">
              <a:latin typeface="Arial"/>
            </a:endParaRPr>
          </a:p>
        </p:txBody>
      </p:sp>
      <p:sp>
        <p:nvSpPr>
          <p:cNvPr id="348"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94a3b8"/>
                </a:solidFill>
                <a:latin typeface="Calibri"/>
                <a:ea typeface="Calibri"/>
              </a:rPr>
              <a:t>Projet 13 — Mission freelance Puls-Events (POC → MVP)</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49"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350"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351"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ffffff"/>
                </a:solidFill>
                <a:latin typeface="Calibri"/>
                <a:ea typeface="Calibri"/>
              </a:rPr>
              <a:t>Projet 13 — Rapport de gestion de projet : chatbot RAG POC → MVP (Puls-Events)</a:t>
            </a:r>
            <a:endParaRPr b="0" lang="en-US" sz="1700" spc="-1" strike="noStrike">
              <a:latin typeface="Arial"/>
            </a:endParaRPr>
          </a:p>
        </p:txBody>
      </p:sp>
      <p:sp>
        <p:nvSpPr>
          <p:cNvPr id="352" name="Shape 3"/>
          <p:cNvSpPr/>
          <p:nvPr/>
        </p:nvSpPr>
        <p:spPr>
          <a:xfrm>
            <a:off x="274320" y="1051560"/>
            <a:ext cx="3977280" cy="356580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53" name="Shape 4"/>
          <p:cNvSpPr/>
          <p:nvPr/>
        </p:nvSpPr>
        <p:spPr>
          <a:xfrm>
            <a:off x="274320" y="1051560"/>
            <a:ext cx="3977280" cy="347040"/>
          </a:xfrm>
          <a:prstGeom prst="rect">
            <a:avLst/>
          </a:prstGeom>
          <a:solidFill>
            <a:srgbClr val="065a82"/>
          </a:solidFill>
          <a:ln w="0">
            <a:noFill/>
          </a:ln>
        </p:spPr>
        <p:style>
          <a:lnRef idx="0"/>
          <a:fillRef idx="0"/>
          <a:effectRef idx="0"/>
          <a:fontRef idx="minor"/>
        </p:style>
      </p:sp>
      <p:sp>
        <p:nvSpPr>
          <p:cNvPr id="354" name="Text 5"/>
          <p:cNvSpPr/>
          <p:nvPr/>
        </p:nvSpPr>
        <p:spPr>
          <a:xfrm>
            <a:off x="320040" y="1051560"/>
            <a:ext cx="3885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Problème résolu</a:t>
            </a:r>
            <a:endParaRPr b="0" lang="en-US" sz="1000" spc="-1" strike="noStrike">
              <a:latin typeface="Arial"/>
            </a:endParaRPr>
          </a:p>
        </p:txBody>
      </p:sp>
      <p:sp>
        <p:nvSpPr>
          <p:cNvPr id="355" name="Text 6"/>
          <p:cNvSpPr/>
          <p:nvPr/>
        </p:nvSpPr>
        <p:spPr>
          <a:xfrm>
            <a:off x="384120" y="1463040"/>
            <a:ext cx="3748680" cy="30628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1e293b"/>
                </a:solidFill>
                <a:latin typeface="Calibri"/>
                <a:ea typeface="Calibri"/>
              </a:rPr>
              <a:t>En tant qu'ingénieur data freelance, accompagner l'entreprise Puls-Events dans la transformation de son chatbot RAG (POC validé) vers un MVP industrialisable. Le chatbot permet de rechercher des événements culturels en langage naturel via FAISS + LLM (Ollama).</a:t>
            </a:r>
            <a:endParaRPr b="0" lang="en-US" sz="1050" spc="-1" strike="noStrike">
              <a:latin typeface="Arial"/>
            </a:endParaRPr>
          </a:p>
        </p:txBody>
      </p:sp>
      <p:sp>
        <p:nvSpPr>
          <p:cNvPr id="356" name="Shape 7"/>
          <p:cNvSpPr/>
          <p:nvPr/>
        </p:nvSpPr>
        <p:spPr>
          <a:xfrm>
            <a:off x="4434840" y="1051560"/>
            <a:ext cx="4434480" cy="155412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57" name="Shape 8"/>
          <p:cNvSpPr/>
          <p:nvPr/>
        </p:nvSpPr>
        <p:spPr>
          <a:xfrm>
            <a:off x="4434840" y="1051560"/>
            <a:ext cx="4434480" cy="347040"/>
          </a:xfrm>
          <a:prstGeom prst="rect">
            <a:avLst/>
          </a:prstGeom>
          <a:solidFill>
            <a:srgbClr val="0a1628"/>
          </a:solidFill>
          <a:ln w="0">
            <a:noFill/>
          </a:ln>
        </p:spPr>
        <p:style>
          <a:lnRef idx="0"/>
          <a:fillRef idx="0"/>
          <a:effectRef idx="0"/>
          <a:fontRef idx="minor"/>
        </p:style>
      </p:sp>
      <p:sp>
        <p:nvSpPr>
          <p:cNvPr id="358" name="Text 9"/>
          <p:cNvSpPr/>
          <p:nvPr/>
        </p:nvSpPr>
        <p:spPr>
          <a:xfrm>
            <a:off x="4480560" y="105156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Technologies</a:t>
            </a:r>
            <a:endParaRPr b="0" lang="en-US" sz="1000" spc="-1" strike="noStrike">
              <a:latin typeface="Arial"/>
            </a:endParaRPr>
          </a:p>
        </p:txBody>
      </p:sp>
      <p:sp>
        <p:nvSpPr>
          <p:cNvPr id="359" name="Text 10"/>
          <p:cNvSpPr/>
          <p:nvPr/>
        </p:nvSpPr>
        <p:spPr>
          <a:xfrm>
            <a:off x="4498920" y="1444680"/>
            <a:ext cx="427896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1e293b"/>
                </a:solidFill>
                <a:latin typeface="Calibri"/>
                <a:ea typeface="Calibri"/>
              </a:rPr>
              <a:t>Python · LangChain · FAISS · Ollama (Mistral) · OpenAgenda API · AWS (architecture cible : compute, stockage, réseau) · Prometheus · Grafana</a:t>
            </a:r>
            <a:endParaRPr b="0" lang="en-US" sz="1000" spc="-1" strike="noStrike">
              <a:latin typeface="Arial"/>
            </a:endParaRPr>
          </a:p>
        </p:txBody>
      </p:sp>
      <p:sp>
        <p:nvSpPr>
          <p:cNvPr id="360" name="Shape 11"/>
          <p:cNvSpPr/>
          <p:nvPr/>
        </p:nvSpPr>
        <p:spPr>
          <a:xfrm>
            <a:off x="4434840" y="2788920"/>
            <a:ext cx="4434480" cy="1828440"/>
          </a:xfrm>
          <a:prstGeom prst="rect">
            <a:avLst/>
          </a:prstGeom>
          <a:solidFill>
            <a:srgbClr val="ffffff"/>
          </a:solidFill>
          <a:ln w="0">
            <a:noFill/>
          </a:ln>
          <a:effectLst>
            <a:outerShdw algn="bl" blurRad="101520" dir="8100000" dist="25455" kx="0" ky="0" rotWithShape="0" sx="100000" sy="100000">
              <a:srgbClr val="000000">
                <a:alpha val="8000"/>
              </a:srgbClr>
            </a:outerShdw>
          </a:effectLst>
        </p:spPr>
        <p:style>
          <a:lnRef idx="0"/>
          <a:fillRef idx="0"/>
          <a:effectRef idx="0"/>
          <a:fontRef idx="minor"/>
        </p:style>
      </p:sp>
      <p:sp>
        <p:nvSpPr>
          <p:cNvPr id="361" name="Shape 12"/>
          <p:cNvSpPr/>
          <p:nvPr/>
        </p:nvSpPr>
        <p:spPr>
          <a:xfrm>
            <a:off x="4434840" y="2788920"/>
            <a:ext cx="4434480" cy="347040"/>
          </a:xfrm>
          <a:prstGeom prst="rect">
            <a:avLst/>
          </a:prstGeom>
          <a:solidFill>
            <a:srgbClr val="065a82"/>
          </a:solidFill>
          <a:ln w="0">
            <a:noFill/>
          </a:ln>
        </p:spPr>
        <p:style>
          <a:lnRef idx="0"/>
          <a:fillRef idx="0"/>
          <a:effectRef idx="0"/>
          <a:fontRef idx="minor"/>
        </p:style>
      </p:sp>
      <p:sp>
        <p:nvSpPr>
          <p:cNvPr id="362" name="Text 13"/>
          <p:cNvSpPr/>
          <p:nvPr/>
        </p:nvSpPr>
        <p:spPr>
          <a:xfrm>
            <a:off x="4480560" y="2788920"/>
            <a:ext cx="4343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Compétences démontrées</a:t>
            </a:r>
            <a:endParaRPr b="0" lang="en-US" sz="1000" spc="-1" strike="noStrike">
              <a:latin typeface="Arial"/>
            </a:endParaRPr>
          </a:p>
        </p:txBody>
      </p:sp>
      <p:sp>
        <p:nvSpPr>
          <p:cNvPr id="363" name="Text 14"/>
          <p:cNvSpPr/>
          <p:nvPr/>
        </p:nvSpPr>
        <p:spPr>
          <a:xfrm>
            <a:off x="4498920" y="3182040"/>
            <a:ext cx="4278960" cy="1371240"/>
          </a:xfrm>
          <a:prstGeom prst="rect">
            <a:avLst/>
          </a:prstGeom>
          <a:noFill/>
          <a:ln w="0">
            <a:noFill/>
          </a:ln>
        </p:spPr>
        <p:style>
          <a:lnRef idx="0"/>
          <a:fillRef idx="0"/>
          <a:effectRef idx="0"/>
          <a:fontRef idx="minor"/>
        </p:style>
        <p:txBody>
          <a:bodyPr lIns="0" rIns="0" tIns="0" bIns="0" anchor="t">
            <a:noAutofit/>
          </a:bodyPr>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Analyse des besoins utilisateurs et définition des cas d'usage (utilisateurs occasionnels vs réguliers)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Rédaction d'un macro backlog fonctionnel avec estimation par indice de complexité (Must have / Nice to have)</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Élaboration d'un macro planning et estimation des charges en jours/TJM</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Veille technique et comparaison cloud providers (AWS, Azure, GCP) — choix justifié d'AWS</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Conception d'une architecture cloud scalable (backend API, pipeline RAG, ingestion, base vectorielle, LLM)</a:t>
            </a:r>
            <a:endParaRPr b="0" lang="en-US" sz="950" spc="-1" strike="noStrike">
              <a:latin typeface="Arial"/>
            </a:endParaRPr>
          </a:p>
          <a:p>
            <a:pPr marL="343080" indent="-343080">
              <a:lnSpc>
                <a:spcPct val="100000"/>
              </a:lnSpc>
              <a:buClr>
                <a:srgbClr val="1e293b"/>
              </a:buClr>
              <a:buFont typeface="Symbol" charset="2"/>
              <a:buChar char=""/>
            </a:pPr>
            <a:r>
              <a:rPr b="0" lang="en-US" sz="950" spc="-1" strike="noStrike">
                <a:solidFill>
                  <a:srgbClr val="1e293b"/>
                </a:solidFill>
                <a:latin typeface="Calibri"/>
                <a:ea typeface="Calibri"/>
              </a:rPr>
              <a:t>Estimation des coûts build et OPEX avec leviers d'optimisation budgétaire</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64" name="Shape 0"/>
          <p:cNvSpPr/>
          <p:nvPr/>
        </p:nvSpPr>
        <p:spPr>
          <a:xfrm>
            <a:off x="0" y="0"/>
            <a:ext cx="9143640" cy="914040"/>
          </a:xfrm>
          <a:prstGeom prst="rect">
            <a:avLst/>
          </a:prstGeom>
          <a:solidFill>
            <a:srgbClr val="0a1628"/>
          </a:solidFill>
          <a:ln w="0">
            <a:noFill/>
          </a:ln>
        </p:spPr>
        <p:style>
          <a:lnRef idx="0"/>
          <a:fillRef idx="0"/>
          <a:effectRef idx="0"/>
          <a:fontRef idx="minor"/>
        </p:style>
      </p:sp>
      <p:sp>
        <p:nvSpPr>
          <p:cNvPr id="365" name="Shape 1"/>
          <p:cNvSpPr/>
          <p:nvPr/>
        </p:nvSpPr>
        <p:spPr>
          <a:xfrm>
            <a:off x="0" y="0"/>
            <a:ext cx="109440" cy="5143320"/>
          </a:xfrm>
          <a:prstGeom prst="rect">
            <a:avLst/>
          </a:prstGeom>
          <a:solidFill>
            <a:srgbClr val="00c9a7"/>
          </a:solidFill>
          <a:ln w="0">
            <a:noFill/>
          </a:ln>
        </p:spPr>
        <p:style>
          <a:lnRef idx="0"/>
          <a:fillRef idx="0"/>
          <a:effectRef idx="0"/>
          <a:fontRef idx="minor"/>
        </p:style>
      </p:sp>
      <p:sp>
        <p:nvSpPr>
          <p:cNvPr id="366" name="Text 2"/>
          <p:cNvSpPr/>
          <p:nvPr/>
        </p:nvSpPr>
        <p:spPr>
          <a:xfrm>
            <a:off x="274320" y="45720"/>
            <a:ext cx="859500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000" spc="-1" strike="noStrike">
                <a:solidFill>
                  <a:srgbClr val="ffffff"/>
                </a:solidFill>
                <a:latin typeface="Calibri"/>
                <a:ea typeface="Calibri"/>
              </a:rPr>
              <a:t>Récapitulatif des technologies</a:t>
            </a:r>
            <a:endParaRPr b="0" lang="en-US" sz="2000" spc="-1" strike="noStrike">
              <a:latin typeface="Arial"/>
            </a:endParaRPr>
          </a:p>
        </p:txBody>
      </p:sp>
      <p:graphicFrame>
        <p:nvGraphicFramePr>
          <p:cNvPr id="367" name="Table 0"/>
          <p:cNvGraphicFramePr/>
          <p:nvPr/>
        </p:nvGraphicFramePr>
        <p:xfrm>
          <a:off x="274320" y="1005840"/>
          <a:ext cx="8595000" cy="3684600"/>
        </p:xfrm>
        <a:graphic>
          <a:graphicData uri="http://schemas.openxmlformats.org/drawingml/2006/table">
            <a:tbl>
              <a:tblPr/>
              <a:tblGrid>
                <a:gridCol w="2286000"/>
                <a:gridCol w="6309360"/>
              </a:tblGrid>
              <a:tr h="283320">
                <a:tc>
                  <a:txBody>
                    <a:bodyPr anchor="t">
                      <a:noAutofit/>
                    </a:bodyPr>
                    <a:p>
                      <a:pPr>
                        <a:lnSpc>
                          <a:spcPct val="100000"/>
                        </a:lnSpc>
                        <a:buNone/>
                        <a:tabLst>
                          <a:tab algn="l" pos="0"/>
                        </a:tabLst>
                      </a:pPr>
                      <a:r>
                        <a:rPr b="1" lang="en-US" sz="1000" spc="-1" strike="noStrike">
                          <a:solidFill>
                            <a:srgbClr val="ffffff"/>
                          </a:solidFill>
                          <a:latin typeface="Calibri"/>
                          <a:ea typeface="Calibri"/>
                        </a:rPr>
                        <a:t>Catégorie</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0a1628"/>
                    </a:solidFill>
                  </a:tcPr>
                </a:tc>
                <a:tc>
                  <a:txBody>
                    <a:bodyPr anchor="t">
                      <a:noAutofit/>
                    </a:bodyPr>
                    <a:p>
                      <a:pPr>
                        <a:lnSpc>
                          <a:spcPct val="100000"/>
                        </a:lnSpc>
                        <a:buNone/>
                        <a:tabLst>
                          <a:tab algn="l" pos="0"/>
                        </a:tabLst>
                      </a:pPr>
                      <a:r>
                        <a:rPr b="1" lang="en-US" sz="1000" spc="-1" strike="noStrike">
                          <a:solidFill>
                            <a:srgbClr val="ffffff"/>
                          </a:solidFill>
                          <a:latin typeface="Calibri"/>
                          <a:ea typeface="Calibri"/>
                        </a:rPr>
                        <a:t>Technologies</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0a1628"/>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Langages</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Python · SQL</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Analyse de données</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Pandas · NumPy · Polars · Matplotlib · Seaborn</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Bases relationnelles</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PostgreSQL · DuckDB</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NoSQL</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MongoDB · DocumentDB (AWS)</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Orchestration</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Kestra · Airbyte</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Streaming</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Kafka (Redpanda) · PySpark</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Machine Learning</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Scikit-learn · BentoML</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IA générative (base de données vectorielle / LLM)</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FAISS · Ollama · Mistral-Nemo</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Cloud</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AWS (EC2, S3, DocumentDB)</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Conteneurisation</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Docker · Docker Compose</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r>
              <a:tr h="283320">
                <a:tc>
                  <a:txBody>
                    <a:bodyPr anchor="t">
                      <a:noAutofit/>
                    </a:bodyPr>
                    <a:p>
                      <a:pPr>
                        <a:lnSpc>
                          <a:spcPct val="100000"/>
                        </a:lnSpc>
                        <a:buNone/>
                        <a:tabLst>
                          <a:tab algn="l" pos="0"/>
                        </a:tabLst>
                      </a:pPr>
                      <a:r>
                        <a:rPr b="0" lang="en-US" sz="1000" spc="-1" strike="noStrike">
                          <a:solidFill>
                            <a:srgbClr val="1e293b"/>
                          </a:solidFill>
                          <a:latin typeface="Calibri"/>
                          <a:ea typeface="Calibri"/>
                        </a:rPr>
                        <a:t>Monitoring</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Prometheus · Grafana · cAdvisor</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fffff"/>
                    </a:solidFill>
                  </a:tcPr>
                </a:tc>
              </a:tr>
              <a:tr h="284760">
                <a:tc>
                  <a:txBody>
                    <a:bodyPr anchor="t">
                      <a:noAutofit/>
                    </a:bodyPr>
                    <a:p>
                      <a:pPr>
                        <a:lnSpc>
                          <a:spcPct val="100000"/>
                        </a:lnSpc>
                        <a:buNone/>
                        <a:tabLst>
                          <a:tab algn="l" pos="0"/>
                        </a:tabLst>
                      </a:pPr>
                      <a:r>
                        <a:rPr b="0" lang="en-US" sz="1000" spc="-1" strike="noStrike">
                          <a:solidFill>
                            <a:srgbClr val="1e293b"/>
                          </a:solidFill>
                          <a:latin typeface="Calibri"/>
                          <a:ea typeface="Calibri"/>
                        </a:rPr>
                        <a:t>Visualisation</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c>
                  <a:txBody>
                    <a:bodyPr anchor="t">
                      <a:noAutofit/>
                    </a:bodyPr>
                    <a:p>
                      <a:pPr>
                        <a:lnSpc>
                          <a:spcPct val="100000"/>
                        </a:lnSpc>
                        <a:buNone/>
                        <a:tabLst>
                          <a:tab algn="l" pos="0"/>
                        </a:tabLst>
                      </a:pPr>
                      <a:r>
                        <a:rPr b="0" lang="en-US" sz="1000" spc="-1" strike="noStrike">
                          <a:solidFill>
                            <a:srgbClr val="1e293b"/>
                          </a:solidFill>
                          <a:latin typeface="Calibri"/>
                          <a:ea typeface="Calibri"/>
                        </a:rPr>
                        <a:t>Power BI </a:t>
                      </a:r>
                      <a:r>
                        <a:rPr b="0" lang="en-US" sz="1000" spc="-1" strike="noStrike">
                          <a:solidFill>
                            <a:srgbClr val="1e293b"/>
                          </a:solidFill>
                          <a:latin typeface="Calibri"/>
                          <a:ea typeface="Calibri"/>
                        </a:rPr>
                        <a:t>· Apache Superset</a:t>
                      </a:r>
                      <a:endParaRPr b="0" lang="en-US" sz="1000" spc="-1" strike="noStrike">
                        <a:latin typeface="Arial"/>
                      </a:endParaRPr>
                    </a:p>
                  </a:txBody>
                  <a:tcPr anchor="t" marL="91440" marR="91440">
                    <a:lnL w="6480">
                      <a:solidFill>
                        <a:srgbClr val="e2e8f0"/>
                      </a:solidFill>
                    </a:lnL>
                    <a:lnR w="6480">
                      <a:solidFill>
                        <a:srgbClr val="e2e8f0"/>
                      </a:solidFill>
                    </a:lnR>
                    <a:lnT w="6480">
                      <a:solidFill>
                        <a:srgbClr val="e2e8f0"/>
                      </a:solidFill>
                    </a:lnT>
                    <a:lnB w="6480">
                      <a:solidFill>
                        <a:srgbClr val="e2e8f0"/>
                      </a:solidFill>
                    </a:lnB>
                    <a:solidFill>
                      <a:srgbClr val="f1f5f9"/>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68" name="Shape 0"/>
          <p:cNvSpPr/>
          <p:nvPr/>
        </p:nvSpPr>
        <p:spPr>
          <a:xfrm>
            <a:off x="0" y="0"/>
            <a:ext cx="109440" cy="5143320"/>
          </a:xfrm>
          <a:prstGeom prst="rect">
            <a:avLst/>
          </a:prstGeom>
          <a:solidFill>
            <a:srgbClr val="00c9a7"/>
          </a:solidFill>
          <a:ln w="0">
            <a:noFill/>
          </a:ln>
        </p:spPr>
        <p:style>
          <a:lnRef idx="0"/>
          <a:fillRef idx="0"/>
          <a:effectRef idx="0"/>
          <a:fontRef idx="minor"/>
        </p:style>
      </p:sp>
      <p:sp>
        <p:nvSpPr>
          <p:cNvPr id="369" name="Shape 1"/>
          <p:cNvSpPr/>
          <p:nvPr/>
        </p:nvSpPr>
        <p:spPr>
          <a:xfrm>
            <a:off x="109800" y="4389120"/>
            <a:ext cx="9033840" cy="754200"/>
          </a:xfrm>
          <a:prstGeom prst="rect">
            <a:avLst/>
          </a:prstGeom>
          <a:solidFill>
            <a:srgbClr val="0d2240"/>
          </a:solidFill>
          <a:ln w="0">
            <a:noFill/>
          </a:ln>
        </p:spPr>
        <p:style>
          <a:lnRef idx="0"/>
          <a:fillRef idx="0"/>
          <a:effectRef idx="0"/>
          <a:fontRef idx="minor"/>
        </p:style>
      </p:sp>
      <p:sp>
        <p:nvSpPr>
          <p:cNvPr id="370" name="Text 2"/>
          <p:cNvSpPr/>
          <p:nvPr/>
        </p:nvSpPr>
        <p:spPr>
          <a:xfrm>
            <a:off x="365760" y="1188720"/>
            <a:ext cx="8229240" cy="1096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800" spc="-1" strike="noStrike">
                <a:solidFill>
                  <a:srgbClr val="ffffff"/>
                </a:solidFill>
                <a:latin typeface="Calibri"/>
                <a:ea typeface="Calibri"/>
              </a:rPr>
              <a:t>Merci de votre attention</a:t>
            </a:r>
            <a:endParaRPr b="0" lang="en-US" sz="3800" spc="-1" strike="noStrike">
              <a:latin typeface="Arial"/>
            </a:endParaRPr>
          </a:p>
        </p:txBody>
      </p:sp>
      <p:sp>
        <p:nvSpPr>
          <p:cNvPr id="371" name="Text 3"/>
          <p:cNvSpPr/>
          <p:nvPr/>
        </p:nvSpPr>
        <p:spPr>
          <a:xfrm>
            <a:off x="365760" y="237744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500" spc="-1" strike="noStrike">
                <a:solidFill>
                  <a:srgbClr val="94a3b8"/>
                </a:solidFill>
                <a:latin typeface="Calibri"/>
                <a:ea typeface="Calibri"/>
              </a:rPr>
              <a:t>Portfolio complet disponible sur demande</a:t>
            </a:r>
            <a:endParaRPr b="0" lang="en-US" sz="1500" spc="-1" strike="noStrike">
              <a:latin typeface="Arial"/>
            </a:endParaRPr>
          </a:p>
        </p:txBody>
      </p:sp>
      <p:sp>
        <p:nvSpPr>
          <p:cNvPr id="372" name="Shape 4"/>
          <p:cNvSpPr/>
          <p:nvPr/>
        </p:nvSpPr>
        <p:spPr>
          <a:xfrm>
            <a:off x="365760" y="3017520"/>
            <a:ext cx="1828440" cy="54360"/>
          </a:xfrm>
          <a:prstGeom prst="rect">
            <a:avLst/>
          </a:prstGeom>
          <a:solidFill>
            <a:srgbClr val="00c9a7"/>
          </a:solidFill>
          <a:ln w="0">
            <a:noFill/>
          </a:ln>
        </p:spPr>
        <p:style>
          <a:lnRef idx="0"/>
          <a:fillRef idx="0"/>
          <a:effectRef idx="0"/>
          <a:fontRef idx="minor"/>
        </p:style>
      </p:sp>
      <p:sp>
        <p:nvSpPr>
          <p:cNvPr id="373" name="Text 5"/>
          <p:cNvSpPr/>
          <p:nvPr/>
        </p:nvSpPr>
        <p:spPr>
          <a:xfrm>
            <a:off x="365760" y="320040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94a3b8"/>
                </a:solidFill>
                <a:latin typeface="Calibri"/>
                <a:ea typeface="Calibri"/>
              </a:rPr>
              <a:t>Formation Data Engineer · OpenClassrooms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LibreOffice/7.3.4.2$Windows_X86_64 LibreOffice_project/728fec16bd5f605073805c3c9e7c4212a0120dc5</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2026-02-26T17:18:24Z</dcterms:created>
  <dc:creator>PptxGenJS</dc:creator>
  <dc:description/>
  <dc:language>en-US</dc:language>
  <cp:lastModifiedBy/>
  <dcterms:modified xsi:type="dcterms:W3CDTF">2026-02-26T18:28:10Z</dcterms:modified>
  <cp:revision>5</cp:revision>
  <dc:subject>PptxGenJS Presentation</dc:subject>
  <dc:title>Portfolio Data Engineer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26</vt:i4>
  </property>
  <property fmtid="{D5CDD505-2E9C-101B-9397-08002B2CF9AE}" pid="3" name="PresentationFormat">
    <vt:lpwstr>On-screen Show (16:9)</vt:lpwstr>
  </property>
  <property fmtid="{D5CDD505-2E9C-101B-9397-08002B2CF9AE}" pid="4" name="Slides">
    <vt:i4>26</vt:i4>
  </property>
</Properties>
</file>